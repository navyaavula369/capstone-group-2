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5" r:id="rId6"/>
    <p:sldId id="260" r:id="rId7"/>
    <p:sldId id="261" r:id="rId8"/>
    <p:sldId id="262" r:id="rId9"/>
    <p:sldId id="263" r:id="rId10"/>
    <p:sldId id="264" r:id="rId11"/>
    <p:sldId id="266" r:id="rId12"/>
    <p:sldId id="267" r:id="rId13"/>
    <p:sldId id="268" r:id="rId14"/>
    <p:sldId id="269" r:id="rId15"/>
    <p:sldId id="270" r:id="rId16"/>
    <p:sldId id="271" r:id="rId17"/>
    <p:sldId id="273" r:id="rId18"/>
    <p:sldId id="272"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3802" autoAdjust="0"/>
  </p:normalViewPr>
  <p:slideViewPr>
    <p:cSldViewPr snapToGrid="0" snapToObjects="1">
      <p:cViewPr varScale="1">
        <p:scale>
          <a:sx n="122" d="100"/>
          <a:sy n="122" d="100"/>
        </p:scale>
        <p:origin x="128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6348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Welcome everyone today we are presenting on our Data mining project about Intracranial Aneurysm rupture prediction. We are Team CSK and I’m Sai Kiran and this is my teammate Navya, I'll walk you through our end-to-end machine learning pipeline that integrates multi-modal medical imaging data consisting of geometric, hemodynamic, and clinical features, to predict which intracranial aneurysms are at high risk of rupture.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Our primary objective is patient safety; we prioritize recall over precision because missing a rupture can be fatal. We worked with 104 multi-modal patient samples representing both ruptured and unruptured aneurysm cases. The severe class imbalance (74% ruptured) required specialized techniques. Our success metric was 75% recall correctly identifying 3 out of 4 ruptures. We achieved this using </a:t>
            </a:r>
            <a:r>
              <a:rPr lang="en-US" sz="1200" b="0" i="0" kern="1200" dirty="0" err="1">
                <a:solidFill>
                  <a:schemeClr val="tx1"/>
                </a:solidFill>
                <a:effectLst/>
                <a:latin typeface="+mn-lt"/>
                <a:ea typeface="+mn-ea"/>
                <a:cs typeface="+mn-cs"/>
              </a:rPr>
              <a:t>XGBoost</a:t>
            </a:r>
            <a:r>
              <a:rPr lang="en-US" sz="1200" b="0" i="0" kern="1200" dirty="0">
                <a:solidFill>
                  <a:schemeClr val="tx1"/>
                </a:solidFill>
                <a:effectLst/>
                <a:latin typeface="+mn-lt"/>
                <a:ea typeface="+mn-ea"/>
                <a:cs typeface="+mn-cs"/>
              </a:rPr>
              <a:t> with only 7 statistically significant features out of 15, which reduced noise and improved model interpretability.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Each patient case required four distinct file types. The .</a:t>
            </a:r>
            <a:r>
              <a:rPr lang="en-US" sz="1200" b="0" i="0" kern="1200" dirty="0" err="1">
                <a:solidFill>
                  <a:schemeClr val="tx1"/>
                </a:solidFill>
                <a:effectLst/>
                <a:latin typeface="+mn-lt"/>
                <a:ea typeface="+mn-ea"/>
                <a:cs typeface="+mn-cs"/>
              </a:rPr>
              <a:t>stl</a:t>
            </a:r>
            <a:r>
              <a:rPr lang="en-US" sz="1200" b="0" i="0" kern="1200" dirty="0">
                <a:solidFill>
                  <a:schemeClr val="tx1"/>
                </a:solidFill>
                <a:effectLst/>
                <a:latin typeface="+mn-lt"/>
                <a:ea typeface="+mn-ea"/>
                <a:cs typeface="+mn-cs"/>
              </a:rPr>
              <a:t> files are stereolithography mesh files representing the 3D surface geometry of the aneurysm sac and parent vessels these are the foundation for geometric feature extraction. Volumetric files contain CT angiography voxel data used for radiomic features and vessel density visualization. The simulation files are ANSYS Fluent case files with mesh topology and boundary conditions these feed into CFD simulations for hemodynamic metrics. Finally, .</a:t>
            </a:r>
            <a:r>
              <a:rPr lang="en-US" sz="1200" b="0" i="0" kern="1200" dirty="0" err="1">
                <a:solidFill>
                  <a:schemeClr val="tx1"/>
                </a:solidFill>
                <a:effectLst/>
                <a:latin typeface="+mn-lt"/>
                <a:ea typeface="+mn-ea"/>
                <a:cs typeface="+mn-cs"/>
              </a:rPr>
              <a:t>json</a:t>
            </a:r>
            <a:r>
              <a:rPr lang="en-US" sz="1200" b="0" i="0" kern="1200" dirty="0">
                <a:solidFill>
                  <a:schemeClr val="tx1"/>
                </a:solidFill>
                <a:effectLst/>
                <a:latin typeface="+mn-lt"/>
                <a:ea typeface="+mn-ea"/>
                <a:cs typeface="+mn-cs"/>
              </a:rPr>
              <a:t> files store scan parameters like </a:t>
            </a:r>
            <a:r>
              <a:rPr lang="en-US" sz="1200" b="0" i="0" kern="1200" dirty="0" err="1">
                <a:solidFill>
                  <a:schemeClr val="tx1"/>
                </a:solidFill>
                <a:effectLst/>
                <a:latin typeface="+mn-lt"/>
                <a:ea typeface="+mn-ea"/>
                <a:cs typeface="+mn-cs"/>
              </a:rPr>
              <a:t>kVp</a:t>
            </a:r>
            <a:r>
              <a:rPr lang="en-US" sz="1200" b="0" i="0" kern="1200" dirty="0">
                <a:solidFill>
                  <a:schemeClr val="tx1"/>
                </a:solidFill>
                <a:effectLst/>
                <a:latin typeface="+mn-lt"/>
                <a:ea typeface="+mn-ea"/>
                <a:cs typeface="+mn-cs"/>
              </a:rPr>
              <a:t> and slice thickness to ensure image consistency across scans. Together, these four data sources provide a complete multimodal picture of each aneurysm.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From these raw files, we extracted three distinct feature sets. Geometric features come from computational geometry algorithms using VTK and VMTK libraries analyzing .</a:t>
            </a:r>
            <a:r>
              <a:rPr lang="en-US" sz="1200" b="0" i="0" kern="1200" dirty="0" err="1">
                <a:solidFill>
                  <a:schemeClr val="tx1"/>
                </a:solidFill>
                <a:effectLst/>
                <a:latin typeface="+mn-lt"/>
                <a:ea typeface="+mn-ea"/>
                <a:cs typeface="+mn-cs"/>
              </a:rPr>
              <a:t>stl</a:t>
            </a:r>
            <a:r>
              <a:rPr lang="en-US" sz="1200" b="0" i="0" kern="1200" dirty="0">
                <a:solidFill>
                  <a:schemeClr val="tx1"/>
                </a:solidFill>
                <a:effectLst/>
                <a:latin typeface="+mn-lt"/>
                <a:ea typeface="+mn-ea"/>
                <a:cs typeface="+mn-cs"/>
              </a:rPr>
              <a:t> meshes. We calculated Aspect Ratio (height-to-width), Size Ratio, </a:t>
            </a:r>
            <a:r>
              <a:rPr lang="en-US" sz="1200" b="0" i="0" kern="1200" dirty="0" err="1">
                <a:solidFill>
                  <a:schemeClr val="tx1"/>
                </a:solidFill>
                <a:effectLst/>
                <a:latin typeface="+mn-lt"/>
                <a:ea typeface="+mn-ea"/>
                <a:cs typeface="+mn-cs"/>
              </a:rPr>
              <a:t>Non_sphericity</a:t>
            </a:r>
            <a:r>
              <a:rPr lang="en-US" sz="1200" b="0" i="0" kern="1200" dirty="0">
                <a:solidFill>
                  <a:schemeClr val="tx1"/>
                </a:solidFill>
                <a:effectLst/>
                <a:latin typeface="+mn-lt"/>
                <a:ea typeface="+mn-ea"/>
                <a:cs typeface="+mn-cs"/>
              </a:rPr>
              <a:t> Index measuring shape irregularity, and Undulation Index measuring surface waviness. Hemodynamic features come from ANSYS Fluent CFD simulations: Wall Shear Stress indicates localized force on the vessel wall, Oscillatory Shear Index captures pulsatile flow patterns, and Low Shear Area identifies regions of reduced flow. Clinical features include patient demographics and risk factors aggregated manually from medical records. Radiomic </a:t>
            </a:r>
            <a:r>
              <a:rPr lang="en-IN" dirty="0"/>
              <a:t>relates to </a:t>
            </a:r>
            <a:r>
              <a:rPr lang="en-IN" b="1" dirty="0"/>
              <a:t>Geometric</a:t>
            </a:r>
            <a:r>
              <a:rPr lang="en-IN" dirty="0"/>
              <a:t> properties and also provides indirect evidence for </a:t>
            </a:r>
            <a:r>
              <a:rPr lang="en-IN" b="1" dirty="0"/>
              <a:t>Hemodynamic</a:t>
            </a:r>
            <a:r>
              <a:rPr lang="en-IN" dirty="0"/>
              <a:t> properties.</a:t>
            </a:r>
            <a:r>
              <a:rPr lang="en-US" sz="1200" b="0" i="0" kern="1200" dirty="0">
                <a:solidFill>
                  <a:schemeClr val="tx1"/>
                </a:solidFill>
                <a:effectLst/>
                <a:latin typeface="+mn-lt"/>
                <a:ea typeface="+mn-ea"/>
                <a:cs typeface="+mn-cs"/>
              </a:rPr>
              <a:t> All four modalities are essential geometry alone doesn't capture flow dynamics, and vice versa.</a:t>
            </a:r>
          </a:p>
          <a:p>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IN" dirty="0"/>
              <a:t>While geometric metrics measure the boundary shape, Radiomics measures what is </a:t>
            </a:r>
            <a:r>
              <a:rPr lang="en-IN" i="1" dirty="0"/>
              <a:t>inside</a:t>
            </a:r>
            <a:r>
              <a:rPr lang="en-IN" dirty="0"/>
              <a:t> that boundary. </a:t>
            </a:r>
            <a:br>
              <a:rPr lang="en-IN" dirty="0"/>
            </a:br>
            <a:br>
              <a:rPr lang="en-IN" dirty="0"/>
            </a:br>
            <a:r>
              <a:rPr lang="en-IN" b="1" dirty="0"/>
              <a:t>Hemodynamic/Clinical Relationship (Inference):</a:t>
            </a:r>
            <a:endParaRPr lang="en-IN" dirty="0"/>
          </a:p>
          <a:p>
            <a:pPr lvl="1"/>
            <a:r>
              <a:rPr lang="en-IN" b="1" dirty="0"/>
              <a:t>Heterogeneity (Entropy):</a:t>
            </a:r>
            <a:r>
              <a:rPr lang="en-IN" dirty="0"/>
              <a:t> High heterogeneity in the image intensity within the aneurysm sac can indicate </a:t>
            </a:r>
            <a:r>
              <a:rPr lang="en-IN" b="1" dirty="0"/>
              <a:t>turbulent flow</a:t>
            </a:r>
            <a:r>
              <a:rPr lang="en-IN" dirty="0"/>
              <a:t> or the presence of a </a:t>
            </a:r>
            <a:r>
              <a:rPr lang="en-IN" b="1" dirty="0"/>
              <a:t>thrombus</a:t>
            </a:r>
            <a:r>
              <a:rPr lang="en-IN" dirty="0"/>
              <a:t> (clot). This provides indirect support for high-risk hemodynamic conditions.</a:t>
            </a:r>
          </a:p>
          <a:p>
            <a:pPr lvl="1"/>
            <a:r>
              <a:rPr lang="en-IN" b="1" dirty="0"/>
              <a:t>Voxel Density:</a:t>
            </a:r>
            <a:r>
              <a:rPr lang="en-IN" dirty="0"/>
              <a:t> Variations in density might correlate with vessel wall inflammation or biological activity, which are clinical precursors to rupture.</a:t>
            </a:r>
          </a:p>
          <a:p>
            <a:r>
              <a:rPr lang="en-IN" dirty="0"/>
              <a:t>In summary, the features you extracted like </a:t>
            </a:r>
            <a:r>
              <a:rPr lang="en-IN" sz="1200" b="1" kern="1200" dirty="0" err="1">
                <a:solidFill>
                  <a:schemeClr val="tx1"/>
                </a:solidFill>
                <a:latin typeface="+mn-lt"/>
                <a:ea typeface="+mn-ea"/>
                <a:cs typeface="+mn-cs"/>
              </a:rPr>
              <a:t>intensity_mean</a:t>
            </a:r>
            <a:r>
              <a:rPr lang="en-IN" dirty="0"/>
              <a:t>, </a:t>
            </a:r>
            <a:r>
              <a:rPr lang="en-IN" sz="1200" b="1" kern="1200" dirty="0" err="1">
                <a:solidFill>
                  <a:schemeClr val="tx1"/>
                </a:solidFill>
                <a:latin typeface="+mn-lt"/>
                <a:ea typeface="+mn-ea"/>
                <a:cs typeface="+mn-cs"/>
              </a:rPr>
              <a:t>intensity_std</a:t>
            </a:r>
            <a:r>
              <a:rPr lang="en-IN" dirty="0"/>
              <a:t>, and </a:t>
            </a:r>
            <a:r>
              <a:rPr lang="en-IN" sz="1200" b="1" kern="1200" dirty="0" err="1">
                <a:solidFill>
                  <a:schemeClr val="tx1"/>
                </a:solidFill>
                <a:latin typeface="+mn-lt"/>
                <a:ea typeface="+mn-ea"/>
                <a:cs typeface="+mn-cs"/>
              </a:rPr>
              <a:t>radiomic_entropy</a:t>
            </a:r>
            <a:r>
              <a:rPr lang="en-IN" sz="1200" b="1" kern="1200" dirty="0">
                <a:solidFill>
                  <a:schemeClr val="tx1"/>
                </a:solidFill>
                <a:latin typeface="+mn-lt"/>
                <a:ea typeface="+mn-ea"/>
                <a:cs typeface="+mn-cs"/>
              </a:rPr>
              <a:t> </a:t>
            </a:r>
            <a:r>
              <a:rPr lang="en-IN" dirty="0"/>
              <a:t>belong to the </a:t>
            </a:r>
            <a:r>
              <a:rPr lang="en-IN" b="1" dirty="0"/>
              <a:t>Radiomic</a:t>
            </a:r>
            <a:r>
              <a:rPr lang="en-IN" dirty="0"/>
              <a:t> feature category.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Geometric features were extracted using the Visualization Toolkit (VTK) and Vascular Modeling Toolkit (VMTK). These open-source libraries provide mesh processing algorithms we computed surface metrics like aspect ratio, size ratio, </a:t>
            </a:r>
            <a:r>
              <a:rPr lang="en-US" sz="1200" b="0" i="0" kern="1200" dirty="0" err="1">
                <a:solidFill>
                  <a:schemeClr val="tx1"/>
                </a:solidFill>
                <a:effectLst/>
                <a:latin typeface="+mn-lt"/>
                <a:ea typeface="+mn-ea"/>
                <a:cs typeface="+mn-cs"/>
              </a:rPr>
              <a:t>nonsphericity</a:t>
            </a:r>
            <a:r>
              <a:rPr lang="en-US" sz="1200" b="0" i="0" kern="1200" dirty="0">
                <a:solidFill>
                  <a:schemeClr val="tx1"/>
                </a:solidFill>
                <a:effectLst/>
                <a:latin typeface="+mn-lt"/>
                <a:ea typeface="+mn-ea"/>
                <a:cs typeface="+mn-cs"/>
              </a:rPr>
              <a:t> index, and undulation index directly from the .</a:t>
            </a:r>
            <a:r>
              <a:rPr lang="en-US" sz="1200" b="0" i="0" kern="1200" dirty="0" err="1">
                <a:solidFill>
                  <a:schemeClr val="tx1"/>
                </a:solidFill>
                <a:effectLst/>
                <a:latin typeface="+mn-lt"/>
                <a:ea typeface="+mn-ea"/>
                <a:cs typeface="+mn-cs"/>
              </a:rPr>
              <a:t>stl</a:t>
            </a:r>
            <a:r>
              <a:rPr lang="en-US" sz="1200" b="0" i="0" kern="1200" dirty="0">
                <a:solidFill>
                  <a:schemeClr val="tx1"/>
                </a:solidFill>
                <a:effectLst/>
                <a:latin typeface="+mn-lt"/>
                <a:ea typeface="+mn-ea"/>
                <a:cs typeface="+mn-cs"/>
              </a:rPr>
              <a:t> triangulated meshes. Hemodynamic features came from ANSYS Fluent CFD simulations. The .</a:t>
            </a:r>
            <a:r>
              <a:rPr lang="en-US" sz="1200" b="0" i="0" kern="1200" dirty="0" err="1">
                <a:solidFill>
                  <a:schemeClr val="tx1"/>
                </a:solidFill>
                <a:effectLst/>
                <a:latin typeface="+mn-lt"/>
                <a:ea typeface="+mn-ea"/>
                <a:cs typeface="+mn-cs"/>
              </a:rPr>
              <a:t>cas</a:t>
            </a:r>
            <a:r>
              <a:rPr lang="en-US" sz="1200" b="0" i="0" kern="1200" dirty="0">
                <a:solidFill>
                  <a:schemeClr val="tx1"/>
                </a:solidFill>
                <a:effectLst/>
                <a:latin typeface="+mn-lt"/>
                <a:ea typeface="+mn-ea"/>
                <a:cs typeface="+mn-cs"/>
              </a:rPr>
              <a:t> case files define the mesh topology, fluid properties, and boundary conditions; the solver computed transient velocity and pressure fields across the vessel and aneurysm. We then post-processed these fields to extract wall shear stress, oscillatory shear index, and low shear area. Clinical features were manually aggregated from patient medical records into structured CSV files using Python and Pandas for data cleaning and validation. Each toolkit is industry-standard in its domain (VTK/VMTK) for biomedical imaging, ANSYS Fluent for engineering, and Python for data science ensuring reproducibility and clinical credibility.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767622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Data integration revealed two critical issues. Challenge 1: Patients with multiple aneurysms like AHMU1218050 appeared as duplicate rows in clinical and hemodynamic files without unique identifiers. We implemented a Python script that detected duplicates and sequentially appended suffixes (_1, _2) to align with morphological IDs. This resolved 12 mismatched rows, automatically filtering to 104 fully multimodal samples. This ensures the model trains only on complete records no null values, no imputations.  While we had 105 geometric datasets, only 104 had hemodynamic simulations one patient (AHMU1218099) lacked CFD data. We didn’t use that patient for the task.</a:t>
            </a:r>
          </a:p>
          <a:p>
            <a:r>
              <a:rPr lang="en-US" dirty="0"/>
              <a:t>Challenge 2: </a:t>
            </a:r>
            <a:r>
              <a:rPr lang="en-US" sz="1200" b="0" i="0" kern="1200" dirty="0">
                <a:solidFill>
                  <a:schemeClr val="tx1"/>
                </a:solidFill>
                <a:effectLst/>
                <a:latin typeface="+mn-lt"/>
                <a:ea typeface="+mn-ea"/>
                <a:cs typeface="+mn-cs"/>
              </a:rPr>
              <a:t>We began with 454 patient IDs but prioritized complete multi-modal data extraction (geometry, CFD, clinical) over dataset size due to ANSYS CFD's computational intensity. We successfully extracted fully annotated data for 104 patients, with one additional patient having complete geometry and clinical data but missing CFD.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After cleaning and merging, we finalized a dataset of 104 complete, multimodal aneurysm samples. The class distribution is 77 ruptured cases (74%) and 27 unruptured cases (26%)—this significant imbalance is realistic but requires special handling to prevent the model from simply predicting "ruptured" for everything. We extracted 17 initial features spanning clinical, geometric, and hemodynamic modalities. This also includes a binary classification task: predict whether an aneurysm will rupture (1) or remain stable (0). The dataset is relatively small but dense with clinical information, making careful feature selection and model tuning critical.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used ANOVA F-Test—</a:t>
            </a:r>
            <a:r>
              <a:rPr lang="en-US" sz="1200" b="0" i="0" kern="1200" dirty="0" err="1">
                <a:solidFill>
                  <a:schemeClr val="tx1"/>
                </a:solidFill>
                <a:effectLst/>
                <a:latin typeface="+mn-lt"/>
                <a:ea typeface="+mn-ea"/>
                <a:cs typeface="+mn-cs"/>
              </a:rPr>
              <a:t>SelectKBest</a:t>
            </a:r>
            <a:r>
              <a:rPr lang="en-US" sz="1200" b="0" i="0" kern="1200" dirty="0">
                <a:solidFill>
                  <a:schemeClr val="tx1"/>
                </a:solidFill>
                <a:effectLst/>
                <a:latin typeface="+mn-lt"/>
                <a:ea typeface="+mn-ea"/>
                <a:cs typeface="+mn-cs"/>
              </a:rPr>
              <a:t> in scikit-learn—to statistically rank features by their relationship with rupture status. This eliminated noise from weak predictors. F-Score indicates the strength of the relationship; higher scores = stronger predictive value. Smoking history shows the strongest association (F=8.48), reflecting its well-known role as a vascular risk factor. Geometric features—</a:t>
            </a:r>
            <a:r>
              <a:rPr lang="en-US" sz="1200" b="0" i="0" kern="1200" dirty="0" err="1">
                <a:solidFill>
                  <a:schemeClr val="tx1"/>
                </a:solidFill>
                <a:effectLst/>
                <a:latin typeface="+mn-lt"/>
                <a:ea typeface="+mn-ea"/>
                <a:cs typeface="+mn-cs"/>
              </a:rPr>
              <a:t>NonSphericityIndex</a:t>
            </a:r>
            <a:r>
              <a:rPr lang="en-US" sz="1200" b="0" i="0" kern="1200" dirty="0">
                <a:solidFill>
                  <a:schemeClr val="tx1"/>
                </a:solidFill>
                <a:effectLst/>
                <a:latin typeface="+mn-lt"/>
                <a:ea typeface="+mn-ea"/>
                <a:cs typeface="+mn-cs"/>
              </a:rPr>
              <a:t>, Aspect Ratio, Undulation Index—occupy ranks 2, 4, and 5, confirming that irregular, elongated shapes with wavy surfaces are unstable. Mean wall pressure (rank 3) demonstrates that hemodynamic stress is clinically important. We selected the top 7 features—those with F-scores ≥ 3.89—to balance signal-to-noise ratio and model simplicity. This reduced overfitting and improved interpretability for clinical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Each feature has clear clinical meaning. Smoking history: nicotine damages endothelial cells and weakens vessel walls, making aneurysms more prone to rupture. This is the strongest predictor. Non-sphericity Index: healthy aneurysms tend toward spherical shapes; irregular, saccular shapes concentrate stress and increase rupture risk. Mean wall pressure: hemodynamic stress directly weakens the wall; higher pressure = higher risk. Aspect Ratio (height-to-width): tall, narrow aneurysms are inherently unstable due to stress concentration at the dome. Undulation Index: wavy, textured surfaces indicate geometric complexity and weak points. Together, these five features capture the essence of aneurysm biomechanics combining patient risk factors, geometric stability, and hemodynamic stress into a coherent risk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During exploratory data analysis, we identified extreme outliers in aneurysm volume—ranging from 1.94 to 2271.75 cubic millimeters. Clinically, very large aneurysms are rare but high-risk. Rather than deleting these outliers, we made a strategic decision to preserve them because they represent clinically important cases. We mitigated their impact using two techniques. First: </a:t>
            </a:r>
            <a:r>
              <a:rPr lang="en-US" sz="1200" b="0" i="0" kern="1200" dirty="0" err="1">
                <a:solidFill>
                  <a:schemeClr val="tx1"/>
                </a:solidFill>
                <a:effectLst/>
                <a:latin typeface="+mn-lt"/>
                <a:ea typeface="+mn-ea"/>
                <a:cs typeface="+mn-cs"/>
              </a:rPr>
              <a:t>StandardScaler</a:t>
            </a:r>
            <a:r>
              <a:rPr lang="en-US" sz="1200" b="0" i="0" kern="1200" dirty="0">
                <a:solidFill>
                  <a:schemeClr val="tx1"/>
                </a:solidFill>
                <a:effectLst/>
                <a:latin typeface="+mn-lt"/>
                <a:ea typeface="+mn-ea"/>
                <a:cs typeface="+mn-cs"/>
              </a:rPr>
              <a:t> normalized all features to mean=0, std=1, preventing large volumes from dominating the learning algorithm. Second: we chose </a:t>
            </a:r>
            <a:r>
              <a:rPr lang="en-US" sz="1200" b="0" i="0" kern="1200" dirty="0" err="1">
                <a:solidFill>
                  <a:schemeClr val="tx1"/>
                </a:solidFill>
                <a:effectLst/>
                <a:latin typeface="+mn-lt"/>
                <a:ea typeface="+mn-ea"/>
                <a:cs typeface="+mn-cs"/>
              </a:rPr>
              <a:t>XGBoost</a:t>
            </a:r>
            <a:r>
              <a:rPr lang="en-US" sz="1200" b="0" i="0" kern="1200" dirty="0">
                <a:solidFill>
                  <a:schemeClr val="tx1"/>
                </a:solidFill>
                <a:effectLst/>
                <a:latin typeface="+mn-lt"/>
                <a:ea typeface="+mn-ea"/>
                <a:cs typeface="+mn-cs"/>
              </a:rPr>
              <a:t> as our final model. Tree-based models naturally partition data based on feature thresholds; they don't weight features by magnitude like linear models do. This combination preserves rare, high-risk cases while preventing them from distorting the decision boundaries. It's a clinically sound approach better to flag rare large aneurysms as high-risk than to remove them from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started with Logistic Regression as a simple, interpretable baseline. Attempt 1a used all top 10 features out of total 15 with L2 regularization and </a:t>
            </a:r>
            <a:r>
              <a:rPr lang="en-US" sz="1200" b="0" i="0" kern="1200" dirty="0" err="1">
                <a:solidFill>
                  <a:schemeClr val="tx1"/>
                </a:solidFill>
                <a:effectLst/>
                <a:latin typeface="+mn-lt"/>
                <a:ea typeface="+mn-ea"/>
                <a:cs typeface="+mn-cs"/>
              </a:rPr>
              <a:t>class_weight</a:t>
            </a:r>
            <a:r>
              <a:rPr lang="en-US" sz="1200" b="0" i="0" kern="1200" dirty="0">
                <a:solidFill>
                  <a:schemeClr val="tx1"/>
                </a:solidFill>
                <a:effectLst/>
                <a:latin typeface="+mn-lt"/>
                <a:ea typeface="+mn-ea"/>
                <a:cs typeface="+mn-cs"/>
              </a:rPr>
              <a:t>='balanced' to handle imbalance. Result: ROC AUC 0.51—essentially random guessing. The model was confused by weak features from 8-10 which are introducing noise into training. Attempt 1b: we reduced to top 7 features with p &lt; 0.05. ROC AUC improved to 0.63, showing noise reduction helped. However, recall dropped to 50% unacceptable for rupture detection. Logistic Regression assumes linear relationship among features, but aneurysm rupture risk involves complex interactions: smoking history doesn't linearly add to geometric shape effects; hemodynamic stress depends on geometry and flow patterns interacting nonlinearly. The linear model was fundamentally inadequate. This negative result was valuable it guided us toward nonlinear approaches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switched to </a:t>
            </a:r>
            <a:r>
              <a:rPr lang="en-US" sz="1200" b="0" i="0" kern="1200" dirty="0" err="1">
                <a:solidFill>
                  <a:schemeClr val="tx1"/>
                </a:solidFill>
                <a:effectLst/>
                <a:latin typeface="+mn-lt"/>
                <a:ea typeface="+mn-ea"/>
                <a:cs typeface="+mn-cs"/>
              </a:rPr>
              <a:t>XGBoost</a:t>
            </a:r>
            <a:r>
              <a:rPr lang="en-US" sz="1200" b="0" i="0" kern="1200" dirty="0">
                <a:solidFill>
                  <a:schemeClr val="tx1"/>
                </a:solidFill>
                <a:effectLst/>
                <a:latin typeface="+mn-lt"/>
                <a:ea typeface="+mn-ea"/>
                <a:cs typeface="+mn-cs"/>
              </a:rPr>
              <a:t> model which can capture non-linear relationships and feature interactions naturally. To handle class imbalance (74% ruptured), we tuned </a:t>
            </a:r>
            <a:r>
              <a:rPr lang="en-US" sz="1200" b="0" i="0" kern="1200" dirty="0" err="1">
                <a:solidFill>
                  <a:schemeClr val="tx1"/>
                </a:solidFill>
                <a:effectLst/>
                <a:latin typeface="+mn-lt"/>
                <a:ea typeface="+mn-ea"/>
                <a:cs typeface="+mn-cs"/>
              </a:rPr>
              <a:t>scale_pos_weight</a:t>
            </a:r>
            <a:r>
              <a:rPr lang="en-US" sz="1200" b="0" i="0" kern="1200" dirty="0">
                <a:solidFill>
                  <a:schemeClr val="tx1"/>
                </a:solidFill>
                <a:effectLst/>
                <a:latin typeface="+mn-lt"/>
                <a:ea typeface="+mn-ea"/>
                <a:cs typeface="+mn-cs"/>
              </a:rPr>
              <a:t>, which penalizes misclassification of the minority class (unruptured). Lower </a:t>
            </a:r>
            <a:r>
              <a:rPr lang="en-US" sz="1200" b="0" i="0" kern="1200" dirty="0" err="1">
                <a:solidFill>
                  <a:schemeClr val="tx1"/>
                </a:solidFill>
                <a:effectLst/>
                <a:latin typeface="+mn-lt"/>
                <a:ea typeface="+mn-ea"/>
                <a:cs typeface="+mn-cs"/>
              </a:rPr>
              <a:t>scale_pos_weight</a:t>
            </a:r>
            <a:r>
              <a:rPr lang="en-US" sz="1200" b="0" i="0" kern="1200" dirty="0">
                <a:solidFill>
                  <a:schemeClr val="tx1"/>
                </a:solidFill>
                <a:effectLst/>
                <a:latin typeface="+mn-lt"/>
                <a:ea typeface="+mn-ea"/>
                <a:cs typeface="+mn-cs"/>
              </a:rPr>
              <a:t> (0.25) performed best, forcing the model to reduce false negatives. We replaced simple 80/20 train-test split with Stratified 5-Fold Cross-Validation to get robust, stable performance estimates on small data. We performed grid search over feature count k (7–15) and confirmed k=7 was optimal—more features added noise without improving performance. Final parameters: </a:t>
            </a:r>
            <a:r>
              <a:rPr lang="en-US" sz="1200" b="0" i="0" kern="1200" dirty="0" err="1">
                <a:solidFill>
                  <a:schemeClr val="tx1"/>
                </a:solidFill>
                <a:effectLst/>
                <a:latin typeface="+mn-lt"/>
                <a:ea typeface="+mn-ea"/>
                <a:cs typeface="+mn-cs"/>
              </a:rPr>
              <a:t>scale_pos_weight</a:t>
            </a:r>
            <a:r>
              <a:rPr lang="en-US" sz="1200" b="0" i="0" kern="1200" dirty="0">
                <a:solidFill>
                  <a:schemeClr val="tx1"/>
                </a:solidFill>
                <a:effectLst/>
                <a:latin typeface="+mn-lt"/>
                <a:ea typeface="+mn-ea"/>
                <a:cs typeface="+mn-cs"/>
              </a:rPr>
              <a:t>=0.25, </a:t>
            </a:r>
            <a:r>
              <a:rPr lang="en-US" sz="1200" b="0" i="0" kern="1200" dirty="0" err="1">
                <a:solidFill>
                  <a:schemeClr val="tx1"/>
                </a:solidFill>
                <a:effectLst/>
                <a:latin typeface="+mn-lt"/>
                <a:ea typeface="+mn-ea"/>
                <a:cs typeface="+mn-cs"/>
              </a:rPr>
              <a:t>max_depth</a:t>
            </a:r>
            <a:r>
              <a:rPr lang="en-US" sz="1200" b="0" i="0" kern="1200" dirty="0">
                <a:solidFill>
                  <a:schemeClr val="tx1"/>
                </a:solidFill>
                <a:effectLst/>
                <a:latin typeface="+mn-lt"/>
                <a:ea typeface="+mn-ea"/>
                <a:cs typeface="+mn-cs"/>
              </a:rPr>
              <a:t>=6 (prevents overfitting), </a:t>
            </a:r>
            <a:r>
              <a:rPr lang="en-US" sz="1200" b="0" i="0" kern="1200" dirty="0" err="1">
                <a:solidFill>
                  <a:schemeClr val="tx1"/>
                </a:solidFill>
                <a:effectLst/>
                <a:latin typeface="+mn-lt"/>
                <a:ea typeface="+mn-ea"/>
                <a:cs typeface="+mn-cs"/>
              </a:rPr>
              <a:t>learning_rate</a:t>
            </a:r>
            <a:r>
              <a:rPr lang="en-US" sz="1200" b="0" i="0" kern="1200" dirty="0">
                <a:solidFill>
                  <a:schemeClr val="tx1"/>
                </a:solidFill>
                <a:effectLst/>
                <a:latin typeface="+mn-lt"/>
                <a:ea typeface="+mn-ea"/>
                <a:cs typeface="+mn-cs"/>
              </a:rPr>
              <a:t>=0.1 (conservative boosting). This systematic hyperparameter tuning ensured our model was optimized for the given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On the holdout test set, our optimized </a:t>
            </a:r>
            <a:r>
              <a:rPr lang="en-US" sz="1200" b="0" i="0" kern="1200" dirty="0" err="1">
                <a:solidFill>
                  <a:schemeClr val="tx1"/>
                </a:solidFill>
                <a:effectLst/>
                <a:latin typeface="+mn-lt"/>
                <a:ea typeface="+mn-ea"/>
                <a:cs typeface="+mn-cs"/>
              </a:rPr>
              <a:t>XGBoost</a:t>
            </a:r>
            <a:r>
              <a:rPr lang="en-US" sz="1200" b="0" i="0" kern="1200" dirty="0">
                <a:solidFill>
                  <a:schemeClr val="tx1"/>
                </a:solidFill>
                <a:effectLst/>
                <a:latin typeface="+mn-lt"/>
                <a:ea typeface="+mn-ea"/>
                <a:cs typeface="+mn-cs"/>
              </a:rPr>
              <a:t> achieved 75% recall meaning 3 out of 4 ruptures were correctly identified. This is clinically significant: we minimize false negatives (missed ruptures). Precision is also 75%—when we flag an aneurysm as ruptured, we're correct 75% of the time, reducing unnecessary interventions. PR AUC (Precision-Recall Area Under Curve) is 0.8044—this is the gold standard metric for imbalanced data. It shows our model reliably separates the critical rupture class. Accuracy (61.9%) looks modest, but it's misleading for imbalanced data: a naive model predicting "always ruptured" would achieve 74% accuracy while missing all unruptured cases. Our model is strategically tuned for the clinical goal: catch ruptures, avoid missing critical cases. For a small dataset (21 test samples), this performance is acceptable.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Even our confusion matrix reveals the clinical logic of our model. True Positives (12): we correctly identified 12 ruptures—these patients get appropriate clinical attention. False Negatives (4): we missed 4 ruptures—this is our greatest concern. In clinical practice, a missed rupture has catastrophic consequences; misclassification here directly threatens patient safety. Our design minimizes this cost. False Positives (4): we flagged 4 unruptured aneurysms as at-risk—the cost here is over-surveillance or precautionary intervention, which is manageable compared to missing ruptures. True Negatives (1): we correctly identified 1 unruptured case as low-risk. The asymmetry reflects our clinical priority: better to over-treat than to under-treat. The 75% recall (12/16 actual ruptures correctly identified) demonstrates we achieve our primary goal—patient safety through high sensitivity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Our project demonstrates strong data engineering: we diagnosed and fixed critical ID mismatches, recovering 12 samples and boosting our dataset to 104 records. Feature curation was rigorous we used ANOVA F-Test to select 7 statistically significant features, balancing signal strength with model simplicity. Model performance exceeded our target: 75% recall on imbalanced data is clinically meaningful. The pipeline is clinically translatable we prioritized sensitivity (catching ruptures) over precision (minimizing false alarms), reflecting real-world requirements. Finally, we implemented stratified cross-validation and documented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have successfully developed a comprehensive ML pipeline that integrates multi-modal medical imaging and clinical data to predict aneurysm rupture risk. The pipeline is clinically grounded, and every design decision prioritizes patient safety. The model achieves 75% sensitivity and precision, exceeding our initial target. Looking forward, this work will benefit from validation on larger, external datasets to confirm generalizability. Prospective studies will evaluate real-world performance. Eventually, this tool could help neurosurgeons stratify patients for monitoring or intervention. The combination of strong data engineering, rigorous feature selection, and clinically appropriate model optimization positions this as a publishable, high-impact contribution to the field of health informatics and precision medicine.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CC557-3931-8A0A-EEE9-570078F712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B41207-15AB-4A13-A623-EA01AE8A7A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CE7074-E7D3-DD7C-A8A2-0B15241753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48848A-6339-EEA1-0798-A6EEF14C8DA8}"/>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6083151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everyone. Please feel free to ask any questions!!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4" name="Freeform: Shape 1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2700" y="2988"/>
            <a:ext cx="7032474" cy="51435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7550" y="2988"/>
            <a:ext cx="7329573" cy="5143500"/>
            <a:chOff x="1303402" y="36937"/>
            <a:chExt cx="9772765" cy="6858000"/>
          </a:xfrm>
          <a:solidFill>
            <a:schemeClr val="bg1">
              <a:alpha val="30000"/>
            </a:schemeClr>
          </a:solidFill>
        </p:grpSpPr>
        <p:sp>
          <p:nvSpPr>
            <p:cNvPr id="17" name="Freeform: Shape 16">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ext 0"/>
          <p:cNvSpPr/>
          <p:nvPr/>
        </p:nvSpPr>
        <p:spPr>
          <a:xfrm>
            <a:off x="279316" y="1156802"/>
            <a:ext cx="8303084" cy="993112"/>
          </a:xfrm>
          <a:prstGeom prst="rect">
            <a:avLst/>
          </a:prstGeom>
        </p:spPr>
        <p:txBody>
          <a:bodyPr vert="horz" lIns="91440" tIns="45720" rIns="91440" bIns="45720" rtlCol="0" anchor="b">
            <a:normAutofit fontScale="85000" lnSpcReduction="10000"/>
          </a:bodyPr>
          <a:lstStyle/>
          <a:p>
            <a:pPr algn="ctr">
              <a:lnSpc>
                <a:spcPct val="90000"/>
              </a:lnSpc>
              <a:spcBef>
                <a:spcPct val="0"/>
              </a:spcBef>
              <a:spcAft>
                <a:spcPts val="600"/>
              </a:spcAft>
            </a:pPr>
            <a:r>
              <a:rPr lang="en-US" sz="4000" dirty="0"/>
              <a:t>Rupture Prediction of Intracranial Aneurysms Using CFD and Machine Learning</a:t>
            </a:r>
            <a:endParaRPr lang="en-US" sz="3900" kern="1200" dirty="0">
              <a:solidFill>
                <a:schemeClr val="tx2"/>
              </a:solidFill>
              <a:latin typeface="+mj-lt"/>
              <a:ea typeface="+mj-ea"/>
              <a:cs typeface="+mj-cs"/>
            </a:endParaRPr>
          </a:p>
        </p:txBody>
      </p:sp>
      <p:sp>
        <p:nvSpPr>
          <p:cNvPr id="3" name="Text 1"/>
          <p:cNvSpPr/>
          <p:nvPr/>
        </p:nvSpPr>
        <p:spPr>
          <a:xfrm>
            <a:off x="2626601" y="3001190"/>
            <a:ext cx="3891025" cy="511559"/>
          </a:xfrm>
          <a:prstGeom prst="rect">
            <a:avLst/>
          </a:prstGeom>
        </p:spPr>
        <p:txBody>
          <a:bodyPr vert="horz" lIns="91440" tIns="45720" rIns="91440" bIns="45720" rtlCol="0">
            <a:normAutofit/>
          </a:bodyPr>
          <a:lstStyle/>
          <a:p>
            <a:pPr algn="ctr">
              <a:lnSpc>
                <a:spcPct val="90000"/>
              </a:lnSpc>
              <a:spcBef>
                <a:spcPts val="1000"/>
              </a:spcBef>
            </a:pPr>
            <a:endParaRPr lang="en-US" sz="1900" kern="1200" dirty="0">
              <a:solidFill>
                <a:schemeClr val="tx2"/>
              </a:solidFill>
              <a:latin typeface="+mn-lt"/>
              <a:ea typeface="+mn-ea"/>
              <a:cs typeface="+mn-cs"/>
            </a:endParaRPr>
          </a:p>
        </p:txBody>
      </p:sp>
      <p:grpSp>
        <p:nvGrpSpPr>
          <p:cNvPr id="25" name="Group 24">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8" y="-3116"/>
            <a:ext cx="1886210" cy="1630749"/>
            <a:chOff x="-305" y="-4155"/>
            <a:chExt cx="2514948" cy="2174333"/>
          </a:xfrm>
        </p:grpSpPr>
        <p:sp>
          <p:nvSpPr>
            <p:cNvPr id="26" name="Freeform: Shape 25">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9" name="Freeform: Shape 28">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7264295" y="3512749"/>
            <a:ext cx="1886211" cy="1630750"/>
            <a:chOff x="-305" y="-4155"/>
            <a:chExt cx="2514948" cy="2174333"/>
          </a:xfrm>
        </p:grpSpPr>
        <p:sp>
          <p:nvSpPr>
            <p:cNvPr id="32" name="Freeform: Shape 31">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5" name="Freeform: Shape 34">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ext 3"/>
          <p:cNvSpPr/>
          <p:nvPr/>
        </p:nvSpPr>
        <p:spPr>
          <a:xfrm>
            <a:off x="2882813" y="3879828"/>
            <a:ext cx="3378374" cy="412395"/>
          </a:xfrm>
          <a:prstGeom prst="rect">
            <a:avLst/>
          </a:prstGeom>
          <a:noFill/>
          <a:ln/>
        </p:spPr>
        <p:txBody>
          <a:bodyPr wrap="square" lIns="0" tIns="0" rIns="0" bIns="0" rtlCol="0" anchor="t"/>
          <a:lstStyle/>
          <a:p>
            <a:pPr marL="0" indent="0" algn="ctr">
              <a:lnSpc>
                <a:spcPts val="1960"/>
              </a:lnSpc>
              <a:spcAft>
                <a:spcPts val="600"/>
              </a:spcAft>
              <a:buNone/>
            </a:pPr>
            <a:r>
              <a:rPr lang="en-US" sz="1600" dirty="0">
                <a:solidFill>
                  <a:schemeClr val="accent1">
                    <a:lumMod val="75000"/>
                  </a:schemeClr>
                </a:solidFill>
                <a:latin typeface="Arial" pitchFamily="34" charset="0"/>
                <a:cs typeface="Arial" pitchFamily="34" charset="-120"/>
              </a:rPr>
              <a:t>Team CSK – Sai Kiran, Navya</a:t>
            </a:r>
            <a:endParaRPr lang="en-US" sz="1600" dirty="0">
              <a:solidFill>
                <a:schemeClr val="accent1">
                  <a:lumMod val="75000"/>
                </a:schemeClr>
              </a:solidFill>
            </a:endParaRPr>
          </a:p>
        </p:txBody>
      </p:sp>
      <p:sp>
        <p:nvSpPr>
          <p:cNvPr id="4" name="Text 2"/>
          <p:cNvSpPr/>
          <p:nvPr/>
        </p:nvSpPr>
        <p:spPr>
          <a:xfrm>
            <a:off x="2709571" y="3363065"/>
            <a:ext cx="3815641" cy="266700"/>
          </a:xfrm>
          <a:prstGeom prst="rect">
            <a:avLst/>
          </a:prstGeom>
          <a:noFill/>
          <a:ln/>
        </p:spPr>
        <p:txBody>
          <a:bodyPr wrap="square" lIns="0" tIns="0" rIns="0" bIns="0" rtlCol="0" anchor="t"/>
          <a:lstStyle/>
          <a:p>
            <a:pPr marL="0" indent="0" algn="ctr">
              <a:lnSpc>
                <a:spcPts val="2800"/>
              </a:lnSpc>
              <a:spcAft>
                <a:spcPts val="600"/>
              </a:spcAft>
              <a:buNone/>
            </a:pPr>
            <a:r>
              <a:rPr lang="en-US" sz="2000" dirty="0">
                <a:solidFill>
                  <a:schemeClr val="accent6">
                    <a:lumMod val="50000"/>
                  </a:schemeClr>
                </a:solidFill>
                <a:latin typeface="Arial" pitchFamily="34" charset="0"/>
                <a:cs typeface="Arial" pitchFamily="34" charset="-120"/>
              </a:rPr>
              <a:t>HI Data Mining – Final project</a:t>
            </a:r>
            <a:endParaRPr lang="en-US" sz="2000" dirty="0">
              <a:solidFill>
                <a:schemeClr val="accent6">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7563" y="1057562"/>
            <a:ext cx="51435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7564" y="1065164"/>
            <a:ext cx="51434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575942" y="2691064"/>
            <a:ext cx="1876484"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727288"/>
            <a:ext cx="2925267" cy="3134219"/>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7570" y="1049957"/>
            <a:ext cx="5143502"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350041" y="440141"/>
            <a:ext cx="2401025" cy="2540623"/>
          </a:xfrm>
          <a:prstGeom prst="rect">
            <a:avLst/>
          </a:prstGeom>
        </p:spPr>
        <p:txBody>
          <a:bodyPr vert="horz" lIns="91440" tIns="45720" rIns="91440" bIns="45720" rtlCol="0" anchor="b">
            <a:normAutofit/>
          </a:bodyPr>
          <a:lstStyle/>
          <a:p>
            <a:pPr marL="0" indent="0" algn="r">
              <a:lnSpc>
                <a:spcPct val="90000"/>
              </a:lnSpc>
              <a:spcBef>
                <a:spcPct val="0"/>
              </a:spcBef>
              <a:spcAft>
                <a:spcPts val="600"/>
              </a:spcAft>
            </a:pPr>
            <a:r>
              <a:rPr lang="en-US" sz="3000" b="1" kern="1200">
                <a:solidFill>
                  <a:srgbClr val="FFFFFF"/>
                </a:solidFill>
                <a:latin typeface="+mj-lt"/>
                <a:ea typeface="+mj-ea"/>
                <a:cs typeface="+mj-cs"/>
              </a:rPr>
              <a:t>Project Goal &amp; Impact</a:t>
            </a:r>
            <a:endParaRPr lang="en-US" sz="3000" kern="1200">
              <a:solidFill>
                <a:srgbClr val="FFFFFF"/>
              </a:solidFill>
              <a:latin typeface="+mj-lt"/>
              <a:ea typeface="+mj-ea"/>
              <a:cs typeface="+mj-cs"/>
            </a:endParaRPr>
          </a:p>
        </p:txBody>
      </p:sp>
      <p:sp>
        <p:nvSpPr>
          <p:cNvPr id="3" name="Text 1"/>
          <p:cNvSpPr/>
          <p:nvPr/>
        </p:nvSpPr>
        <p:spPr>
          <a:xfrm>
            <a:off x="3378410" y="45720"/>
            <a:ext cx="4916510" cy="4159535"/>
          </a:xfrm>
          <a:prstGeom prst="rect">
            <a:avLst/>
          </a:prstGeom>
        </p:spPr>
        <p:txBody>
          <a:bodyPr vert="horz" lIns="91440" tIns="45720" rIns="91440" bIns="45720" rtlCol="0" anchor="ctr">
            <a:normAutofit/>
          </a:bodyPr>
          <a:lstStyle/>
          <a:p>
            <a:pPr marL="342900" indent="-228600">
              <a:lnSpc>
                <a:spcPct val="90000"/>
              </a:lnSpc>
              <a:spcAft>
                <a:spcPts val="600"/>
              </a:spcAft>
              <a:buSzPct val="100000"/>
              <a:buFont typeface="Arial" panose="020B0604020202020204" pitchFamily="34" charset="0"/>
              <a:buChar char="•"/>
            </a:pPr>
            <a:r>
              <a:rPr lang="en-US" sz="1500" b="1" dirty="0"/>
              <a:t>Objective:</a:t>
            </a:r>
            <a:r>
              <a:rPr lang="en-US" sz="1500" dirty="0"/>
              <a:t> Develop a sensitive ML model to predict intracranial aneurysm rupture status</a:t>
            </a:r>
          </a:p>
          <a:p>
            <a:pPr marL="342900" indent="-228600">
              <a:lnSpc>
                <a:spcPct val="90000"/>
              </a:lnSpc>
              <a:spcAft>
                <a:spcPts val="600"/>
              </a:spcAft>
              <a:buSzPct val="100000"/>
              <a:buFont typeface="Arial" panose="020B0604020202020204" pitchFamily="34" charset="0"/>
              <a:buChar char="•"/>
            </a:pPr>
            <a:r>
              <a:rPr lang="en-US" sz="1500" b="1" dirty="0"/>
              <a:t>Data:</a:t>
            </a:r>
            <a:r>
              <a:rPr lang="en-US" sz="1500" dirty="0"/>
              <a:t> 104 multi-modal patient samples (Clinical + Geometric + Hemodynamic features)</a:t>
            </a:r>
          </a:p>
          <a:p>
            <a:pPr marL="342900" indent="-228600">
              <a:lnSpc>
                <a:spcPct val="90000"/>
              </a:lnSpc>
              <a:spcAft>
                <a:spcPts val="600"/>
              </a:spcAft>
              <a:buSzPct val="100000"/>
              <a:buFont typeface="Arial" panose="020B0604020202020204" pitchFamily="34" charset="0"/>
              <a:buChar char="•"/>
            </a:pPr>
            <a:r>
              <a:rPr lang="en-US" sz="1500" b="1" dirty="0"/>
              <a:t>Challenge:</a:t>
            </a:r>
            <a:r>
              <a:rPr lang="en-US" sz="1500" dirty="0"/>
              <a:t> Severe class imbalance (74% Ruptured vs. 26% Unruptured)</a:t>
            </a:r>
          </a:p>
          <a:p>
            <a:pPr marL="342900" indent="-228600">
              <a:lnSpc>
                <a:spcPct val="90000"/>
              </a:lnSpc>
              <a:spcAft>
                <a:spcPts val="600"/>
              </a:spcAft>
              <a:buSzPct val="100000"/>
              <a:buFont typeface="Arial" panose="020B0604020202020204" pitchFamily="34" charset="0"/>
              <a:buChar char="•"/>
            </a:pPr>
            <a:r>
              <a:rPr lang="en-US" sz="1500" b="1" dirty="0"/>
              <a:t>Success Metric:</a:t>
            </a:r>
            <a:r>
              <a:rPr lang="en-US" sz="1500" dirty="0"/>
              <a:t> High sensitivity (recall ≥75%) to minimize missed ruptures</a:t>
            </a:r>
          </a:p>
          <a:p>
            <a:pPr marL="342900" indent="-228600">
              <a:lnSpc>
                <a:spcPct val="90000"/>
              </a:lnSpc>
              <a:spcAft>
                <a:spcPts val="600"/>
              </a:spcAft>
              <a:buSzPct val="100000"/>
              <a:buFont typeface="Arial" panose="020B0604020202020204" pitchFamily="34" charset="0"/>
              <a:buChar char="•"/>
            </a:pPr>
            <a:r>
              <a:rPr lang="en-US" sz="1500" b="1" dirty="0"/>
              <a:t>Final Model:</a:t>
            </a:r>
            <a:r>
              <a:rPr lang="en-US" sz="1500" dirty="0"/>
              <a:t> Optimized </a:t>
            </a:r>
            <a:r>
              <a:rPr lang="en-US" sz="1500" dirty="0" err="1"/>
              <a:t>XGBoost</a:t>
            </a:r>
            <a:r>
              <a:rPr lang="en-US" sz="1500" dirty="0"/>
              <a:t> with 7 curated features</a:t>
            </a:r>
          </a:p>
        </p:txBody>
      </p:sp>
      <p:pic>
        <p:nvPicPr>
          <p:cNvPr id="5" name="Picture 4" descr="A white background with black text&#10;&#10;AI-generated content may be incorrect.">
            <a:extLst>
              <a:ext uri="{FF2B5EF4-FFF2-40B4-BE49-F238E27FC236}">
                <a16:creationId xmlns:a16="http://schemas.microsoft.com/office/drawing/2014/main" id="{A9EC0A07-5548-84B5-6F2A-16005360CF66}"/>
              </a:ext>
            </a:extLst>
          </p:cNvPr>
          <p:cNvPicPr>
            <a:picLocks noChangeAspect="1"/>
          </p:cNvPicPr>
          <p:nvPr/>
        </p:nvPicPr>
        <p:blipFill>
          <a:blip r:embed="rId3"/>
          <a:stretch>
            <a:fillRect/>
          </a:stretch>
        </p:blipFill>
        <p:spPr>
          <a:xfrm>
            <a:off x="5303264" y="3569324"/>
            <a:ext cx="3658111" cy="110505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249681"/>
            <a:ext cx="7924800" cy="777640"/>
          </a:xfrm>
          <a:prstGeom prst="rect">
            <a:avLst/>
          </a:prstGeom>
          <a:solidFill>
            <a:srgbClr val="1E293B"/>
          </a:solidFill>
          <a:ln/>
          <a:effectLst>
            <a:outerShdw blurRad="152400" dist="76200" dir="5400000" algn="bl" rotWithShape="0">
              <a:srgbClr val="000000">
                <a:alpha val="30000"/>
              </a:srgbClr>
            </a:outerShdw>
          </a:effectLst>
        </p:spPr>
        <p:txBody>
          <a:bodyPr wrap="none" lIns="0" tIns="0" rIns="0" bIns="0" rtlCol="0" anchor="ctr">
            <a:normAutofit/>
          </a:bodyPr>
          <a:lstStyle/>
          <a:p>
            <a:pPr marL="0" indent="0">
              <a:buNone/>
            </a:pPr>
            <a:endParaRPr lang="en-US" dirty="0"/>
          </a:p>
        </p:txBody>
      </p:sp>
      <p:sp>
        <p:nvSpPr>
          <p:cNvPr id="3" name="Text 1"/>
          <p:cNvSpPr/>
          <p:nvPr/>
        </p:nvSpPr>
        <p:spPr>
          <a:xfrm>
            <a:off x="609600" y="2068631"/>
            <a:ext cx="7924800" cy="802907"/>
          </a:xfrm>
          <a:prstGeom prst="rect">
            <a:avLst/>
          </a:prstGeom>
          <a:solidFill>
            <a:srgbClr val="1E293B"/>
          </a:solidFill>
          <a:ln/>
          <a:effectLst>
            <a:outerShdw blurRad="152400" dist="76200" dir="5400000" algn="bl" rotWithShape="0">
              <a:srgbClr val="000000">
                <a:alpha val="30000"/>
              </a:srgbClr>
            </a:outerShdw>
          </a:effectLst>
        </p:spPr>
        <p:txBody>
          <a:bodyPr wrap="none" lIns="0" tIns="0" rIns="0" bIns="0" rtlCol="0" anchor="ctr">
            <a:normAutofit/>
          </a:bodyPr>
          <a:lstStyle/>
          <a:p>
            <a:pPr marL="0" indent="0">
              <a:buNone/>
            </a:pPr>
            <a:endParaRPr lang="en-US" dirty="0"/>
          </a:p>
        </p:txBody>
      </p:sp>
      <p:sp>
        <p:nvSpPr>
          <p:cNvPr id="4" name="Text 2"/>
          <p:cNvSpPr/>
          <p:nvPr/>
        </p:nvSpPr>
        <p:spPr>
          <a:xfrm>
            <a:off x="609600" y="2929693"/>
            <a:ext cx="7924800" cy="944880"/>
          </a:xfrm>
          <a:prstGeom prst="rect">
            <a:avLst/>
          </a:prstGeom>
          <a:solidFill>
            <a:srgbClr val="1E293B"/>
          </a:solidFill>
          <a:ln/>
          <a:effectLst>
            <a:outerShdw blurRad="152400" dist="76200" dir="5400000" algn="bl" rotWithShape="0">
              <a:srgbClr val="000000">
                <a:alpha val="30000"/>
              </a:srgbClr>
            </a:outerShdw>
          </a:effectLst>
        </p:spPr>
        <p:txBody>
          <a:bodyPr wrap="none" lIns="0" tIns="0" rIns="0" bIns="0" rtlCol="0" anchor="ctr">
            <a:normAutofit/>
          </a:bodyPr>
          <a:lstStyle/>
          <a:p>
            <a:pPr marL="0" indent="0">
              <a:buNone/>
            </a:pPr>
            <a:endParaRPr lang="en-US" dirty="0"/>
          </a:p>
        </p:txBody>
      </p:sp>
      <p:sp>
        <p:nvSpPr>
          <p:cNvPr id="5" name="Text 3"/>
          <p:cNvSpPr/>
          <p:nvPr/>
        </p:nvSpPr>
        <p:spPr>
          <a:xfrm>
            <a:off x="609600" y="3984460"/>
            <a:ext cx="7924800" cy="944880"/>
          </a:xfrm>
          <a:prstGeom prst="rect">
            <a:avLst/>
          </a:prstGeom>
          <a:solidFill>
            <a:srgbClr val="1E293B"/>
          </a:solidFill>
          <a:ln/>
          <a:effectLst>
            <a:outerShdw blurRad="152400" dist="76200" dir="5400000" algn="bl" rotWithShape="0">
              <a:srgbClr val="000000">
                <a:alpha val="30000"/>
              </a:srgbClr>
            </a:outerShdw>
          </a:effectLst>
        </p:spPr>
        <p:txBody>
          <a:bodyPr wrap="none" lIns="0" tIns="0" rIns="0" bIns="0" rtlCol="0" anchor="ctr">
            <a:normAutofit/>
          </a:bodyPr>
          <a:lstStyle/>
          <a:p>
            <a:pPr marL="0" indent="0">
              <a:buNone/>
            </a:pPr>
            <a:endParaRPr lang="en-US" dirty="0"/>
          </a:p>
        </p:txBody>
      </p:sp>
      <p:sp>
        <p:nvSpPr>
          <p:cNvPr id="6" name="Text 4"/>
          <p:cNvSpPr/>
          <p:nvPr/>
        </p:nvSpPr>
        <p:spPr>
          <a:xfrm>
            <a:off x="609600" y="609600"/>
            <a:ext cx="8083296" cy="411480"/>
          </a:xfrm>
          <a:prstGeom prst="rect">
            <a:avLst/>
          </a:prstGeom>
          <a:noFill/>
          <a:ln/>
        </p:spPr>
        <p:txBody>
          <a:bodyPr wrap="square" lIns="0" tIns="0" rIns="0" bIns="0" rtlCol="0" anchor="t"/>
          <a:lstStyle/>
          <a:p>
            <a:pPr>
              <a:lnSpc>
                <a:spcPts val="4320"/>
              </a:lnSpc>
            </a:pPr>
            <a:r>
              <a:rPr lang="en-US" sz="2700" b="1" dirty="0">
                <a:solidFill>
                  <a:srgbClr val="38BDF8"/>
                </a:solidFill>
                <a:latin typeface="Arial" pitchFamily="34" charset="0"/>
                <a:ea typeface="Arial" pitchFamily="34" charset="-122"/>
                <a:cs typeface="Arial" pitchFamily="34" charset="-120"/>
              </a:rPr>
              <a:t>Raw Data Sources (Input File types)</a:t>
            </a:r>
            <a:endParaRPr lang="en-US" sz="2700" dirty="0"/>
          </a:p>
        </p:txBody>
      </p:sp>
      <p:sp>
        <p:nvSpPr>
          <p:cNvPr id="7" name="Text 5"/>
          <p:cNvSpPr/>
          <p:nvPr/>
        </p:nvSpPr>
        <p:spPr>
          <a:xfrm>
            <a:off x="763524" y="1339517"/>
            <a:ext cx="7616952" cy="274320"/>
          </a:xfrm>
          <a:prstGeom prst="rect">
            <a:avLst/>
          </a:prstGeom>
          <a:noFill/>
          <a:ln/>
        </p:spPr>
        <p:txBody>
          <a:bodyPr wrap="square" lIns="0" tIns="0" rIns="0" bIns="0" rtlCol="0" anchor="t"/>
          <a:lstStyle/>
          <a:p>
            <a:pPr marL="0" indent="0">
              <a:lnSpc>
                <a:spcPts val="2880"/>
              </a:lnSpc>
              <a:buNone/>
            </a:pPr>
            <a:r>
              <a:rPr lang="en-US" sz="1800" b="1" dirty="0">
                <a:solidFill>
                  <a:srgbClr val="38BDF8"/>
                </a:solidFill>
                <a:latin typeface="Arial" pitchFamily="34" charset="0"/>
                <a:ea typeface="Arial" pitchFamily="34" charset="-122"/>
                <a:cs typeface="Arial" pitchFamily="34" charset="-120"/>
              </a:rPr>
              <a:t>Anatomy (.stl)</a:t>
            </a:r>
            <a:endParaRPr lang="en-US" sz="1800" dirty="0"/>
          </a:p>
        </p:txBody>
      </p:sp>
      <p:sp>
        <p:nvSpPr>
          <p:cNvPr id="8" name="Text 6"/>
          <p:cNvSpPr/>
          <p:nvPr/>
        </p:nvSpPr>
        <p:spPr>
          <a:xfrm>
            <a:off x="763524" y="1627874"/>
            <a:ext cx="7616952" cy="213360"/>
          </a:xfrm>
          <a:prstGeom prst="rect">
            <a:avLst/>
          </a:prstGeom>
          <a:noFill/>
          <a:ln/>
        </p:spPr>
        <p:txBody>
          <a:bodyPr wrap="square" lIns="0" tIns="0" rIns="0" bIns="0" rtlCol="0" anchor="t"/>
          <a:lstStyle/>
          <a:p>
            <a:pPr marL="0" indent="0">
              <a:lnSpc>
                <a:spcPts val="2240"/>
              </a:lnSpc>
              <a:buNone/>
            </a:pPr>
            <a:r>
              <a:rPr lang="en-US" sz="1200" dirty="0">
                <a:solidFill>
                  <a:srgbClr val="CBD5E1"/>
                </a:solidFill>
                <a:latin typeface="Arial" pitchFamily="34" charset="0"/>
                <a:ea typeface="Arial" pitchFamily="34" charset="-122"/>
                <a:cs typeface="Arial" pitchFamily="34" charset="-120"/>
              </a:rPr>
              <a:t>3D mesh geometry; Geometric feature extraction</a:t>
            </a:r>
            <a:endParaRPr lang="en-US" sz="1200" dirty="0"/>
          </a:p>
        </p:txBody>
      </p:sp>
      <p:sp>
        <p:nvSpPr>
          <p:cNvPr id="9" name="Text 7"/>
          <p:cNvSpPr/>
          <p:nvPr/>
        </p:nvSpPr>
        <p:spPr>
          <a:xfrm>
            <a:off x="763524" y="2137208"/>
            <a:ext cx="7616952" cy="274320"/>
          </a:xfrm>
          <a:prstGeom prst="rect">
            <a:avLst/>
          </a:prstGeom>
          <a:noFill/>
          <a:ln/>
        </p:spPr>
        <p:txBody>
          <a:bodyPr wrap="square" lIns="0" tIns="0" rIns="0" bIns="0" rtlCol="0" anchor="t"/>
          <a:lstStyle/>
          <a:p>
            <a:pPr marL="0" indent="0">
              <a:lnSpc>
                <a:spcPts val="2880"/>
              </a:lnSpc>
              <a:buNone/>
            </a:pPr>
            <a:r>
              <a:rPr lang="en-US" sz="1800" b="1" dirty="0">
                <a:solidFill>
                  <a:srgbClr val="38BDF8"/>
                </a:solidFill>
                <a:latin typeface="Arial" pitchFamily="34" charset="0"/>
                <a:ea typeface="Arial" pitchFamily="34" charset="-122"/>
                <a:cs typeface="Arial" pitchFamily="34" charset="-120"/>
              </a:rPr>
              <a:t>Volumetric (.nii.gz)</a:t>
            </a:r>
            <a:endParaRPr lang="en-US" sz="1800" dirty="0"/>
          </a:p>
        </p:txBody>
      </p:sp>
      <p:sp>
        <p:nvSpPr>
          <p:cNvPr id="10" name="Text 8"/>
          <p:cNvSpPr/>
          <p:nvPr/>
        </p:nvSpPr>
        <p:spPr>
          <a:xfrm>
            <a:off x="763524" y="2521415"/>
            <a:ext cx="7616952" cy="213360"/>
          </a:xfrm>
          <a:prstGeom prst="rect">
            <a:avLst/>
          </a:prstGeom>
          <a:noFill/>
          <a:ln/>
        </p:spPr>
        <p:txBody>
          <a:bodyPr wrap="square" lIns="0" tIns="0" rIns="0" bIns="0" rtlCol="0" anchor="t"/>
          <a:lstStyle/>
          <a:p>
            <a:pPr marL="0" indent="0">
              <a:lnSpc>
                <a:spcPts val="2240"/>
              </a:lnSpc>
              <a:buNone/>
            </a:pPr>
            <a:r>
              <a:rPr lang="en-US" sz="1200" dirty="0">
                <a:solidFill>
                  <a:srgbClr val="CBD5E1"/>
                </a:solidFill>
                <a:latin typeface="Arial" pitchFamily="34" charset="0"/>
                <a:ea typeface="Arial" pitchFamily="34" charset="-122"/>
                <a:cs typeface="Arial" pitchFamily="34" charset="-120"/>
              </a:rPr>
              <a:t>CT Angiography; Radiomic features</a:t>
            </a:r>
            <a:endParaRPr lang="en-US" sz="1200" dirty="0"/>
          </a:p>
        </p:txBody>
      </p:sp>
      <p:sp>
        <p:nvSpPr>
          <p:cNvPr id="11" name="Text 9"/>
          <p:cNvSpPr/>
          <p:nvPr/>
        </p:nvSpPr>
        <p:spPr>
          <a:xfrm>
            <a:off x="763524" y="3102145"/>
            <a:ext cx="7616952" cy="274320"/>
          </a:xfrm>
          <a:prstGeom prst="rect">
            <a:avLst/>
          </a:prstGeom>
          <a:noFill/>
          <a:ln/>
        </p:spPr>
        <p:txBody>
          <a:bodyPr wrap="square" lIns="0" tIns="0" rIns="0" bIns="0" rtlCol="0" anchor="t"/>
          <a:lstStyle/>
          <a:p>
            <a:pPr marL="0" indent="0">
              <a:lnSpc>
                <a:spcPts val="2880"/>
              </a:lnSpc>
              <a:buNone/>
            </a:pPr>
            <a:r>
              <a:rPr lang="en-US" sz="1800" b="1" dirty="0">
                <a:solidFill>
                  <a:srgbClr val="38BDF8"/>
                </a:solidFill>
                <a:latin typeface="Arial" pitchFamily="34" charset="0"/>
                <a:ea typeface="Arial" pitchFamily="34" charset="-122"/>
                <a:cs typeface="Arial" pitchFamily="34" charset="-120"/>
              </a:rPr>
              <a:t>Simulation (.cas.gz)</a:t>
            </a:r>
            <a:endParaRPr lang="en-US" sz="1800" dirty="0"/>
          </a:p>
        </p:txBody>
      </p:sp>
      <p:sp>
        <p:nvSpPr>
          <p:cNvPr id="12" name="Text 10"/>
          <p:cNvSpPr/>
          <p:nvPr/>
        </p:nvSpPr>
        <p:spPr>
          <a:xfrm>
            <a:off x="763524" y="3499187"/>
            <a:ext cx="7616952" cy="213360"/>
          </a:xfrm>
          <a:prstGeom prst="rect">
            <a:avLst/>
          </a:prstGeom>
          <a:noFill/>
          <a:ln/>
        </p:spPr>
        <p:txBody>
          <a:bodyPr wrap="square" lIns="0" tIns="0" rIns="0" bIns="0" rtlCol="0" anchor="t"/>
          <a:lstStyle/>
          <a:p>
            <a:pPr marL="0" indent="0">
              <a:lnSpc>
                <a:spcPts val="2240"/>
              </a:lnSpc>
              <a:buNone/>
            </a:pPr>
            <a:r>
              <a:rPr lang="en-US" sz="1200" dirty="0">
                <a:solidFill>
                  <a:srgbClr val="CBD5E1"/>
                </a:solidFill>
                <a:latin typeface="Arial" pitchFamily="34" charset="0"/>
                <a:ea typeface="Arial" pitchFamily="34" charset="-122"/>
                <a:cs typeface="Arial" pitchFamily="34" charset="-120"/>
              </a:rPr>
              <a:t>ANSYS CFD mesh; Flow simulation</a:t>
            </a:r>
            <a:endParaRPr lang="en-US" sz="1200" dirty="0"/>
          </a:p>
        </p:txBody>
      </p:sp>
      <p:sp>
        <p:nvSpPr>
          <p:cNvPr id="13" name="Text 11"/>
          <p:cNvSpPr/>
          <p:nvPr/>
        </p:nvSpPr>
        <p:spPr>
          <a:xfrm>
            <a:off x="763524" y="4059056"/>
            <a:ext cx="7616952" cy="274320"/>
          </a:xfrm>
          <a:prstGeom prst="rect">
            <a:avLst/>
          </a:prstGeom>
          <a:noFill/>
          <a:ln/>
        </p:spPr>
        <p:txBody>
          <a:bodyPr wrap="square" lIns="0" tIns="0" rIns="0" bIns="0" rtlCol="0" anchor="t"/>
          <a:lstStyle/>
          <a:p>
            <a:pPr marL="0" indent="0">
              <a:lnSpc>
                <a:spcPts val="2880"/>
              </a:lnSpc>
              <a:buNone/>
            </a:pPr>
            <a:r>
              <a:rPr lang="en-US" sz="1800" b="1" dirty="0">
                <a:solidFill>
                  <a:srgbClr val="38BDF8"/>
                </a:solidFill>
                <a:latin typeface="Arial" pitchFamily="34" charset="0"/>
                <a:ea typeface="Arial" pitchFamily="34" charset="-122"/>
                <a:cs typeface="Arial" pitchFamily="34" charset="-120"/>
              </a:rPr>
              <a:t>Metadata (.json)</a:t>
            </a:r>
            <a:endParaRPr lang="en-US" sz="1800" dirty="0"/>
          </a:p>
        </p:txBody>
      </p:sp>
      <p:sp>
        <p:nvSpPr>
          <p:cNvPr id="14" name="Text 12"/>
          <p:cNvSpPr/>
          <p:nvPr/>
        </p:nvSpPr>
        <p:spPr>
          <a:xfrm>
            <a:off x="763524" y="4460108"/>
            <a:ext cx="7616952" cy="213360"/>
          </a:xfrm>
          <a:prstGeom prst="rect">
            <a:avLst/>
          </a:prstGeom>
          <a:noFill/>
          <a:ln/>
        </p:spPr>
        <p:txBody>
          <a:bodyPr wrap="square" lIns="0" tIns="0" rIns="0" bIns="0" rtlCol="0" anchor="t"/>
          <a:lstStyle/>
          <a:p>
            <a:pPr marL="0" indent="0">
              <a:lnSpc>
                <a:spcPts val="2240"/>
              </a:lnSpc>
              <a:buNone/>
            </a:pPr>
            <a:r>
              <a:rPr lang="en-US" sz="1200" dirty="0">
                <a:solidFill>
                  <a:srgbClr val="CBD5E1"/>
                </a:solidFill>
                <a:latin typeface="Arial" pitchFamily="34" charset="0"/>
                <a:ea typeface="Arial" pitchFamily="34" charset="-122"/>
                <a:cs typeface="Arial" pitchFamily="34" charset="-120"/>
              </a:rPr>
              <a:t>Scan parameters; Image normalization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92" y="0"/>
            <a:ext cx="9169464" cy="5151052"/>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31469" y="-2"/>
            <a:ext cx="8829202" cy="5151055"/>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400" y="0"/>
            <a:ext cx="2717530" cy="5151054"/>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906" y="-2"/>
            <a:ext cx="9175185" cy="515105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363251" y="-646368"/>
            <a:ext cx="5146448" cy="6448394"/>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890229" y="816787"/>
            <a:ext cx="3725650" cy="3741293"/>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0"/>
          <p:cNvSpPr/>
          <p:nvPr/>
        </p:nvSpPr>
        <p:spPr>
          <a:xfrm>
            <a:off x="796306" y="32103"/>
            <a:ext cx="7185194" cy="1283618"/>
          </a:xfrm>
          <a:prstGeom prst="rect">
            <a:avLst/>
          </a:prstGeom>
        </p:spPr>
        <p:txBody>
          <a:bodyPr vert="horz" lIns="91440" tIns="45720" rIns="91440" bIns="45720" rtlCol="0" anchor="b">
            <a:normAutofit/>
          </a:bodyPr>
          <a:lstStyle/>
          <a:p>
            <a:pPr marL="0" indent="0">
              <a:lnSpc>
                <a:spcPct val="90000"/>
              </a:lnSpc>
              <a:spcBef>
                <a:spcPct val="0"/>
              </a:spcBef>
              <a:spcAft>
                <a:spcPts val="600"/>
              </a:spcAft>
            </a:pPr>
            <a:r>
              <a:rPr lang="en-US" sz="3600" b="1" kern="1200" dirty="0">
                <a:solidFill>
                  <a:srgbClr val="FFFFFF"/>
                </a:solidFill>
                <a:latin typeface="+mj-lt"/>
                <a:ea typeface="+mj-ea"/>
                <a:cs typeface="+mj-cs"/>
              </a:rPr>
              <a:t>Feature Extraction (Three Modalities)</a:t>
            </a:r>
            <a:endParaRPr lang="en-US" sz="3600" kern="1200" dirty="0">
              <a:solidFill>
                <a:srgbClr val="FFFFFF"/>
              </a:solidFill>
              <a:latin typeface="+mj-lt"/>
              <a:ea typeface="+mj-ea"/>
              <a:cs typeface="+mj-cs"/>
            </a:endParaRPr>
          </a:p>
        </p:txBody>
      </p:sp>
      <p:sp>
        <p:nvSpPr>
          <p:cNvPr id="24" name="Rectangle 23">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3367582"/>
            <a:ext cx="9163282" cy="178347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1"/>
          <p:cNvSpPr/>
          <p:nvPr/>
        </p:nvSpPr>
        <p:spPr>
          <a:xfrm>
            <a:off x="889946" y="3630970"/>
            <a:ext cx="7850193" cy="428175"/>
          </a:xfrm>
          <a:prstGeom prst="rect">
            <a:avLst/>
          </a:prstGeom>
        </p:spPr>
        <p:txBody>
          <a:bodyPr vert="horz" lIns="91440" tIns="45720" rIns="91440" bIns="45720" rtlCol="0">
            <a:normAutofit/>
          </a:bodyPr>
          <a:lstStyle/>
          <a:p>
            <a:pPr>
              <a:lnSpc>
                <a:spcPct val="90000"/>
              </a:lnSpc>
              <a:spcBef>
                <a:spcPts val="1000"/>
              </a:spcBef>
            </a:pPr>
            <a:r>
              <a:rPr lang="en-US" sz="1600" b="1" kern="1200" dirty="0">
                <a:solidFill>
                  <a:schemeClr val="accent6">
                    <a:lumMod val="60000"/>
                    <a:lumOff val="40000"/>
                  </a:schemeClr>
                </a:solidFill>
                <a:latin typeface="+mn-lt"/>
                <a:ea typeface="+mn-ea"/>
                <a:cs typeface="+mn-cs"/>
              </a:rPr>
              <a:t>Geometric</a:t>
            </a:r>
            <a:r>
              <a:rPr lang="en-US" sz="1600" b="1" kern="1200" dirty="0">
                <a:solidFill>
                  <a:srgbClr val="FFFFFF"/>
                </a:solidFill>
                <a:latin typeface="+mn-lt"/>
                <a:ea typeface="+mn-ea"/>
                <a:cs typeface="+mn-cs"/>
              </a:rPr>
              <a:t>:</a:t>
            </a:r>
            <a:r>
              <a:rPr lang="en-US" sz="1600" kern="1200" dirty="0">
                <a:solidFill>
                  <a:srgbClr val="FFFFFF"/>
                </a:solidFill>
                <a:latin typeface="+mn-lt"/>
                <a:ea typeface="+mn-ea"/>
                <a:cs typeface="+mn-cs"/>
              </a:rPr>
              <a:t> AR, SR, NSI, Undulation Index (from .</a:t>
            </a:r>
            <a:r>
              <a:rPr lang="en-US" sz="1600" kern="1200" dirty="0" err="1">
                <a:solidFill>
                  <a:srgbClr val="FFFFFF"/>
                </a:solidFill>
                <a:latin typeface="+mn-lt"/>
                <a:ea typeface="+mn-ea"/>
                <a:cs typeface="+mn-cs"/>
              </a:rPr>
              <a:t>stl</a:t>
            </a:r>
            <a:r>
              <a:rPr lang="en-US" sz="1600" kern="1200" dirty="0">
                <a:solidFill>
                  <a:srgbClr val="FFFFFF"/>
                </a:solidFill>
                <a:latin typeface="+mn-lt"/>
                <a:ea typeface="+mn-ea"/>
                <a:cs typeface="+mn-cs"/>
              </a:rPr>
              <a:t> using VTK/VMTK)</a:t>
            </a:r>
          </a:p>
        </p:txBody>
      </p:sp>
      <p:sp>
        <p:nvSpPr>
          <p:cNvPr id="4" name="Text 2"/>
          <p:cNvSpPr/>
          <p:nvPr/>
        </p:nvSpPr>
        <p:spPr>
          <a:xfrm>
            <a:off x="967740" y="2580753"/>
            <a:ext cx="8083296" cy="213360"/>
          </a:xfrm>
          <a:prstGeom prst="rect">
            <a:avLst/>
          </a:prstGeom>
          <a:noFill/>
          <a:ln/>
        </p:spPr>
        <p:txBody>
          <a:bodyPr wrap="square" lIns="0" tIns="0" rIns="0" bIns="0" rtlCol="0" anchor="t"/>
          <a:lstStyle/>
          <a:p>
            <a:pPr marL="0" indent="0">
              <a:lnSpc>
                <a:spcPts val="2240"/>
              </a:lnSpc>
              <a:spcAft>
                <a:spcPts val="600"/>
              </a:spcAft>
              <a:buNone/>
            </a:pPr>
            <a:r>
              <a:rPr lang="en-US" sz="1400" b="1" dirty="0">
                <a:solidFill>
                  <a:schemeClr val="accent6">
                    <a:lumMod val="60000"/>
                    <a:lumOff val="40000"/>
                  </a:schemeClr>
                </a:solidFill>
                <a:latin typeface="Arial" pitchFamily="34" charset="0"/>
                <a:ea typeface="Arial" pitchFamily="34" charset="-122"/>
                <a:cs typeface="Arial" pitchFamily="34" charset="-120"/>
              </a:rPr>
              <a:t>Hemodynamic</a:t>
            </a:r>
            <a:r>
              <a:rPr lang="en-US" sz="1400" b="1" dirty="0">
                <a:solidFill>
                  <a:schemeClr val="bg1"/>
                </a:solidFill>
                <a:latin typeface="Arial" pitchFamily="34" charset="0"/>
                <a:ea typeface="Arial" pitchFamily="34" charset="-122"/>
                <a:cs typeface="Arial" pitchFamily="34" charset="-120"/>
              </a:rPr>
              <a:t>:</a:t>
            </a:r>
            <a:r>
              <a:rPr lang="en-US" sz="1400" dirty="0">
                <a:solidFill>
                  <a:schemeClr val="bg1"/>
                </a:solidFill>
                <a:latin typeface="Arial" pitchFamily="34" charset="0"/>
                <a:ea typeface="Arial" pitchFamily="34" charset="-122"/>
                <a:cs typeface="Arial" pitchFamily="34" charset="-120"/>
              </a:rPr>
              <a:t> WSS, OSI, LSA (from ANSYS Fluent CFD simulations)</a:t>
            </a:r>
            <a:endParaRPr lang="en-US" sz="1400" dirty="0">
              <a:solidFill>
                <a:schemeClr val="bg1"/>
              </a:solidFill>
            </a:endParaRPr>
          </a:p>
        </p:txBody>
      </p:sp>
      <p:sp>
        <p:nvSpPr>
          <p:cNvPr id="5" name="Text 3"/>
          <p:cNvSpPr/>
          <p:nvPr/>
        </p:nvSpPr>
        <p:spPr>
          <a:xfrm>
            <a:off x="967740" y="3106481"/>
            <a:ext cx="8083296" cy="213360"/>
          </a:xfrm>
          <a:prstGeom prst="rect">
            <a:avLst/>
          </a:prstGeom>
          <a:noFill/>
          <a:ln/>
        </p:spPr>
        <p:txBody>
          <a:bodyPr wrap="square" lIns="0" tIns="0" rIns="0" bIns="0" rtlCol="0" anchor="t"/>
          <a:lstStyle/>
          <a:p>
            <a:pPr marL="0" indent="0">
              <a:lnSpc>
                <a:spcPts val="2240"/>
              </a:lnSpc>
              <a:spcAft>
                <a:spcPts val="600"/>
              </a:spcAft>
              <a:buNone/>
            </a:pPr>
            <a:r>
              <a:rPr lang="en-US" sz="1400" b="1" dirty="0">
                <a:solidFill>
                  <a:schemeClr val="accent6">
                    <a:lumMod val="60000"/>
                    <a:lumOff val="40000"/>
                  </a:schemeClr>
                </a:solidFill>
                <a:latin typeface="Arial" pitchFamily="34" charset="0"/>
                <a:ea typeface="Arial" pitchFamily="34" charset="-122"/>
                <a:cs typeface="Arial" pitchFamily="34" charset="-120"/>
              </a:rPr>
              <a:t>Clinical</a:t>
            </a:r>
            <a:r>
              <a:rPr lang="en-US" sz="1400" b="1" dirty="0">
                <a:solidFill>
                  <a:schemeClr val="bg1"/>
                </a:solidFill>
                <a:latin typeface="Arial" pitchFamily="34" charset="0"/>
                <a:ea typeface="Arial" pitchFamily="34" charset="-122"/>
                <a:cs typeface="Arial" pitchFamily="34" charset="-120"/>
              </a:rPr>
              <a:t>:</a:t>
            </a:r>
            <a:r>
              <a:rPr lang="en-US" sz="1400" dirty="0">
                <a:solidFill>
                  <a:schemeClr val="bg1"/>
                </a:solidFill>
                <a:latin typeface="Arial" pitchFamily="34" charset="0"/>
                <a:ea typeface="Arial" pitchFamily="34" charset="-122"/>
                <a:cs typeface="Arial" pitchFamily="34" charset="-120"/>
              </a:rPr>
              <a:t> Age, Gender, Hypertension, Smoking, Rupture Status (manual aggregation)</a:t>
            </a:r>
            <a:endParaRPr lang="en-US" sz="1400" dirty="0">
              <a:solidFill>
                <a:schemeClr val="bg1"/>
              </a:solidFill>
            </a:endParaRPr>
          </a:p>
        </p:txBody>
      </p:sp>
      <p:sp>
        <p:nvSpPr>
          <p:cNvPr id="6" name="Text 1">
            <a:extLst>
              <a:ext uri="{FF2B5EF4-FFF2-40B4-BE49-F238E27FC236}">
                <a16:creationId xmlns:a16="http://schemas.microsoft.com/office/drawing/2014/main" id="{6ABB8B9E-C05D-EFC6-942C-789BD39092EB}"/>
              </a:ext>
            </a:extLst>
          </p:cNvPr>
          <p:cNvSpPr/>
          <p:nvPr/>
        </p:nvSpPr>
        <p:spPr>
          <a:xfrm>
            <a:off x="889945" y="4099794"/>
            <a:ext cx="7850193" cy="428175"/>
          </a:xfrm>
          <a:prstGeom prst="rect">
            <a:avLst/>
          </a:prstGeom>
        </p:spPr>
        <p:txBody>
          <a:bodyPr vert="horz" lIns="91440" tIns="45720" rIns="91440" bIns="45720" rtlCol="0">
            <a:normAutofit/>
          </a:bodyPr>
          <a:lstStyle/>
          <a:p>
            <a:pPr>
              <a:lnSpc>
                <a:spcPct val="90000"/>
              </a:lnSpc>
              <a:spcBef>
                <a:spcPts val="1000"/>
              </a:spcBef>
            </a:pPr>
            <a:r>
              <a:rPr lang="en-US" sz="1600" b="1" kern="1200" dirty="0">
                <a:solidFill>
                  <a:schemeClr val="accent6">
                    <a:lumMod val="60000"/>
                    <a:lumOff val="40000"/>
                  </a:schemeClr>
                </a:solidFill>
                <a:latin typeface="+mn-lt"/>
                <a:ea typeface="+mn-ea"/>
                <a:cs typeface="+mn-cs"/>
              </a:rPr>
              <a:t>Radiomic: </a:t>
            </a:r>
            <a:r>
              <a:rPr lang="en-IN" sz="1600" dirty="0">
                <a:solidFill>
                  <a:schemeClr val="bg1"/>
                </a:solidFill>
              </a:rPr>
              <a:t>Texture, Density, and Intensity Heterogeneity (nii.gz)</a:t>
            </a:r>
            <a:endParaRPr lang="en-US" sz="1600" b="1" kern="1200" dirty="0">
              <a:solidFill>
                <a:schemeClr val="bg1"/>
              </a:solidFill>
              <a:latin typeface="+mn-lt"/>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1173482"/>
            <a:ext cx="7924800" cy="967740"/>
          </a:xfrm>
          <a:prstGeom prst="rect">
            <a:avLst/>
          </a:prstGeom>
          <a:solidFill>
            <a:srgbClr val="1E293B"/>
          </a:solidFill>
          <a:ln/>
          <a:effectLst>
            <a:outerShdw blurRad="152400" dist="76200" dir="5400000" algn="bl" rotWithShape="0">
              <a:srgbClr val="000000">
                <a:alpha val="30000"/>
              </a:srgbClr>
            </a:outerShdw>
          </a:effectLst>
        </p:spPr>
        <p:txBody>
          <a:bodyPr wrap="none" lIns="0" tIns="0" rIns="0" bIns="0" rtlCol="0" anchor="ctr">
            <a:normAutofit/>
          </a:bodyPr>
          <a:lstStyle/>
          <a:p>
            <a:pPr marL="0" indent="0">
              <a:buNone/>
            </a:pPr>
            <a:endParaRPr lang="en-US" dirty="0"/>
          </a:p>
        </p:txBody>
      </p:sp>
      <p:sp>
        <p:nvSpPr>
          <p:cNvPr id="3" name="Text 1"/>
          <p:cNvSpPr/>
          <p:nvPr/>
        </p:nvSpPr>
        <p:spPr>
          <a:xfrm>
            <a:off x="609600" y="2369823"/>
            <a:ext cx="7924800" cy="967740"/>
          </a:xfrm>
          <a:prstGeom prst="rect">
            <a:avLst/>
          </a:prstGeom>
          <a:solidFill>
            <a:srgbClr val="1E293B"/>
          </a:solidFill>
          <a:ln/>
          <a:effectLst>
            <a:outerShdw blurRad="152400" dist="76200" dir="5400000" algn="bl" rotWithShape="0">
              <a:srgbClr val="000000">
                <a:alpha val="30000"/>
              </a:srgbClr>
            </a:outerShdw>
          </a:effectLst>
        </p:spPr>
        <p:txBody>
          <a:bodyPr wrap="none" lIns="0" tIns="0" rIns="0" bIns="0" rtlCol="0" anchor="ctr">
            <a:normAutofit/>
          </a:bodyPr>
          <a:lstStyle/>
          <a:p>
            <a:pPr marL="0" indent="0">
              <a:buNone/>
            </a:pPr>
            <a:endParaRPr lang="en-US" dirty="0"/>
          </a:p>
        </p:txBody>
      </p:sp>
      <p:sp>
        <p:nvSpPr>
          <p:cNvPr id="4" name="Text 2"/>
          <p:cNvSpPr/>
          <p:nvPr/>
        </p:nvSpPr>
        <p:spPr>
          <a:xfrm>
            <a:off x="609600" y="3566159"/>
            <a:ext cx="7924800" cy="967740"/>
          </a:xfrm>
          <a:prstGeom prst="rect">
            <a:avLst/>
          </a:prstGeom>
          <a:solidFill>
            <a:srgbClr val="1E293B"/>
          </a:solidFill>
          <a:ln/>
          <a:effectLst>
            <a:outerShdw blurRad="152400" dist="76200" dir="5400000" algn="bl" rotWithShape="0">
              <a:srgbClr val="000000">
                <a:alpha val="30000"/>
              </a:srgbClr>
            </a:outerShdw>
          </a:effectLst>
        </p:spPr>
        <p:txBody>
          <a:bodyPr wrap="none" lIns="0" tIns="0" rIns="0" bIns="0" rtlCol="0" anchor="ctr">
            <a:normAutofit/>
          </a:bodyPr>
          <a:lstStyle/>
          <a:p>
            <a:pPr marL="0" indent="0">
              <a:buNone/>
            </a:pPr>
            <a:endParaRPr lang="en-US" dirty="0"/>
          </a:p>
        </p:txBody>
      </p:sp>
      <p:sp>
        <p:nvSpPr>
          <p:cNvPr id="5" name="Text 3"/>
          <p:cNvSpPr/>
          <p:nvPr/>
        </p:nvSpPr>
        <p:spPr>
          <a:xfrm>
            <a:off x="609600" y="609600"/>
            <a:ext cx="8083296" cy="411480"/>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Feature Extraction Tools &amp; Methods</a:t>
            </a:r>
            <a:endParaRPr lang="en-US" sz="2700" dirty="0"/>
          </a:p>
        </p:txBody>
      </p:sp>
      <p:sp>
        <p:nvSpPr>
          <p:cNvPr id="6" name="Text 4"/>
          <p:cNvSpPr/>
          <p:nvPr/>
        </p:nvSpPr>
        <p:spPr>
          <a:xfrm>
            <a:off x="838200" y="1402082"/>
            <a:ext cx="7616952" cy="274320"/>
          </a:xfrm>
          <a:prstGeom prst="rect">
            <a:avLst/>
          </a:prstGeom>
          <a:noFill/>
          <a:ln/>
        </p:spPr>
        <p:txBody>
          <a:bodyPr wrap="square" lIns="0" tIns="0" rIns="0" bIns="0" rtlCol="0" anchor="t"/>
          <a:lstStyle/>
          <a:p>
            <a:pPr marL="0" indent="0">
              <a:lnSpc>
                <a:spcPts val="2880"/>
              </a:lnSpc>
              <a:buNone/>
            </a:pPr>
            <a:r>
              <a:rPr lang="en-US" sz="1800" b="1" dirty="0">
                <a:solidFill>
                  <a:srgbClr val="38BDF8"/>
                </a:solidFill>
                <a:latin typeface="Arial" pitchFamily="34" charset="0"/>
                <a:ea typeface="Arial" pitchFamily="34" charset="-122"/>
                <a:cs typeface="Arial" pitchFamily="34" charset="-120"/>
              </a:rPr>
              <a:t>Geometric</a:t>
            </a:r>
            <a:endParaRPr lang="en-US" sz="1800" dirty="0"/>
          </a:p>
        </p:txBody>
      </p:sp>
      <p:sp>
        <p:nvSpPr>
          <p:cNvPr id="7" name="Text 5"/>
          <p:cNvSpPr/>
          <p:nvPr/>
        </p:nvSpPr>
        <p:spPr>
          <a:xfrm>
            <a:off x="838200" y="1676400"/>
            <a:ext cx="7616952" cy="202644"/>
          </a:xfrm>
          <a:prstGeom prst="rect">
            <a:avLst/>
          </a:prstGeom>
          <a:noFill/>
          <a:ln/>
        </p:spPr>
        <p:txBody>
          <a:bodyPr wrap="square" lIns="0" tIns="0" rIns="0" bIns="0" rtlCol="0" anchor="t"/>
          <a:lstStyle/>
          <a:p>
            <a:pPr marL="0" indent="0">
              <a:lnSpc>
                <a:spcPts val="2128"/>
              </a:lnSpc>
              <a:buNone/>
            </a:pPr>
            <a:r>
              <a:rPr lang="en-US" sz="1140" b="1" dirty="0">
                <a:solidFill>
                  <a:srgbClr val="CBD5E1"/>
                </a:solidFill>
                <a:latin typeface="Arial" pitchFamily="34" charset="0"/>
                <a:ea typeface="Arial" pitchFamily="34" charset="-122"/>
                <a:cs typeface="Arial" pitchFamily="34" charset="-120"/>
              </a:rPr>
              <a:t>VTK/VMTK:</a:t>
            </a:r>
            <a:r>
              <a:rPr lang="en-US" sz="1140" dirty="0">
                <a:solidFill>
                  <a:srgbClr val="CBD5E1"/>
                </a:solidFill>
                <a:latin typeface="Arial" pitchFamily="34" charset="0"/>
                <a:ea typeface="Arial" pitchFamily="34" charset="-122"/>
                <a:cs typeface="Arial" pitchFamily="34" charset="-120"/>
              </a:rPr>
              <a:t> Mesh analysis, computational geometry algorithms</a:t>
            </a:r>
            <a:endParaRPr lang="en-US" sz="1140" dirty="0"/>
          </a:p>
        </p:txBody>
      </p:sp>
      <p:sp>
        <p:nvSpPr>
          <p:cNvPr id="8" name="Text 6"/>
          <p:cNvSpPr/>
          <p:nvPr/>
        </p:nvSpPr>
        <p:spPr>
          <a:xfrm>
            <a:off x="838200" y="2598423"/>
            <a:ext cx="7616952" cy="274320"/>
          </a:xfrm>
          <a:prstGeom prst="rect">
            <a:avLst/>
          </a:prstGeom>
          <a:noFill/>
          <a:ln/>
        </p:spPr>
        <p:txBody>
          <a:bodyPr wrap="square" lIns="0" tIns="0" rIns="0" bIns="0" rtlCol="0" anchor="t"/>
          <a:lstStyle/>
          <a:p>
            <a:pPr marL="0" indent="0">
              <a:lnSpc>
                <a:spcPts val="2880"/>
              </a:lnSpc>
              <a:buNone/>
            </a:pPr>
            <a:r>
              <a:rPr lang="en-US" sz="1800" b="1" dirty="0">
                <a:solidFill>
                  <a:srgbClr val="38BDF8"/>
                </a:solidFill>
                <a:latin typeface="Arial" pitchFamily="34" charset="0"/>
                <a:ea typeface="Arial" pitchFamily="34" charset="-122"/>
                <a:cs typeface="Arial" pitchFamily="34" charset="-120"/>
              </a:rPr>
              <a:t>Hemodynamic</a:t>
            </a:r>
            <a:endParaRPr lang="en-US" sz="1800" dirty="0"/>
          </a:p>
        </p:txBody>
      </p:sp>
      <p:sp>
        <p:nvSpPr>
          <p:cNvPr id="9" name="Text 7"/>
          <p:cNvSpPr/>
          <p:nvPr/>
        </p:nvSpPr>
        <p:spPr>
          <a:xfrm>
            <a:off x="838200" y="2872741"/>
            <a:ext cx="7616952" cy="202644"/>
          </a:xfrm>
          <a:prstGeom prst="rect">
            <a:avLst/>
          </a:prstGeom>
          <a:noFill/>
          <a:ln/>
        </p:spPr>
        <p:txBody>
          <a:bodyPr wrap="square" lIns="0" tIns="0" rIns="0" bIns="0" rtlCol="0" anchor="t"/>
          <a:lstStyle/>
          <a:p>
            <a:pPr marL="0" indent="0">
              <a:lnSpc>
                <a:spcPts val="2128"/>
              </a:lnSpc>
              <a:buNone/>
            </a:pPr>
            <a:r>
              <a:rPr lang="en-US" sz="1140" b="1" dirty="0">
                <a:solidFill>
                  <a:srgbClr val="CBD5E1"/>
                </a:solidFill>
                <a:latin typeface="Arial" pitchFamily="34" charset="0"/>
                <a:ea typeface="Arial" pitchFamily="34" charset="-122"/>
                <a:cs typeface="Arial" pitchFamily="34" charset="-120"/>
              </a:rPr>
              <a:t>ANSYS Fluent:</a:t>
            </a:r>
            <a:r>
              <a:rPr lang="en-US" sz="1140" dirty="0">
                <a:solidFill>
                  <a:srgbClr val="CBD5E1"/>
                </a:solidFill>
                <a:latin typeface="Arial" pitchFamily="34" charset="0"/>
                <a:ea typeface="Arial" pitchFamily="34" charset="-122"/>
                <a:cs typeface="Arial" pitchFamily="34" charset="-120"/>
              </a:rPr>
              <a:t> CFD simulations, velocity &amp; pressure field solver</a:t>
            </a:r>
            <a:endParaRPr lang="en-US" sz="1140" dirty="0"/>
          </a:p>
        </p:txBody>
      </p:sp>
      <p:sp>
        <p:nvSpPr>
          <p:cNvPr id="10" name="Text 8"/>
          <p:cNvSpPr/>
          <p:nvPr/>
        </p:nvSpPr>
        <p:spPr>
          <a:xfrm>
            <a:off x="838200" y="3794759"/>
            <a:ext cx="7616952" cy="274320"/>
          </a:xfrm>
          <a:prstGeom prst="rect">
            <a:avLst/>
          </a:prstGeom>
          <a:noFill/>
          <a:ln/>
        </p:spPr>
        <p:txBody>
          <a:bodyPr wrap="square" lIns="0" tIns="0" rIns="0" bIns="0" rtlCol="0" anchor="t"/>
          <a:lstStyle/>
          <a:p>
            <a:pPr marL="0" indent="0">
              <a:lnSpc>
                <a:spcPts val="2880"/>
              </a:lnSpc>
              <a:buNone/>
            </a:pPr>
            <a:r>
              <a:rPr lang="en-US" sz="1800" b="1" dirty="0">
                <a:solidFill>
                  <a:srgbClr val="38BDF8"/>
                </a:solidFill>
                <a:latin typeface="Arial" pitchFamily="34" charset="0"/>
                <a:ea typeface="Arial" pitchFamily="34" charset="-122"/>
                <a:cs typeface="Arial" pitchFamily="34" charset="-120"/>
              </a:rPr>
              <a:t>Clinical</a:t>
            </a:r>
            <a:endParaRPr lang="en-US" sz="1800" dirty="0"/>
          </a:p>
        </p:txBody>
      </p:sp>
      <p:sp>
        <p:nvSpPr>
          <p:cNvPr id="11" name="Text 9"/>
          <p:cNvSpPr/>
          <p:nvPr/>
        </p:nvSpPr>
        <p:spPr>
          <a:xfrm>
            <a:off x="838200" y="4069082"/>
            <a:ext cx="7616952" cy="202644"/>
          </a:xfrm>
          <a:prstGeom prst="rect">
            <a:avLst/>
          </a:prstGeom>
          <a:noFill/>
          <a:ln/>
        </p:spPr>
        <p:txBody>
          <a:bodyPr wrap="square" lIns="0" tIns="0" rIns="0" bIns="0" rtlCol="0" anchor="t"/>
          <a:lstStyle/>
          <a:p>
            <a:pPr marL="0" indent="0">
              <a:lnSpc>
                <a:spcPts val="2128"/>
              </a:lnSpc>
              <a:buNone/>
            </a:pPr>
            <a:r>
              <a:rPr lang="en-US" sz="1140" b="1" dirty="0">
                <a:solidFill>
                  <a:srgbClr val="CBD5E1"/>
                </a:solidFill>
                <a:latin typeface="Arial" pitchFamily="34" charset="0"/>
                <a:ea typeface="Arial" pitchFamily="34" charset="-122"/>
                <a:cs typeface="Arial" pitchFamily="34" charset="-120"/>
              </a:rPr>
              <a:t>Python/Pandas:</a:t>
            </a:r>
            <a:r>
              <a:rPr lang="en-US" sz="1140" dirty="0">
                <a:solidFill>
                  <a:srgbClr val="CBD5E1"/>
                </a:solidFill>
                <a:latin typeface="Arial" pitchFamily="34" charset="0"/>
                <a:ea typeface="Arial" pitchFamily="34" charset="-122"/>
                <a:cs typeface="Arial" pitchFamily="34" charset="-120"/>
              </a:rPr>
              <a:t> Data aggregation, CSV processing</a:t>
            </a:r>
            <a:endParaRPr lang="en-US" sz="1140" dirty="0"/>
          </a:p>
        </p:txBody>
      </p:sp>
      <p:pic>
        <p:nvPicPr>
          <p:cNvPr id="13" name="Picture 12">
            <a:extLst>
              <a:ext uri="{FF2B5EF4-FFF2-40B4-BE49-F238E27FC236}">
                <a16:creationId xmlns:a16="http://schemas.microsoft.com/office/drawing/2014/main" id="{0F717655-3059-88D0-9BFE-25A8CD73E450}"/>
              </a:ext>
            </a:extLst>
          </p:cNvPr>
          <p:cNvPicPr>
            <a:picLocks noChangeAspect="1"/>
          </p:cNvPicPr>
          <p:nvPr/>
        </p:nvPicPr>
        <p:blipFill>
          <a:blip r:embed="rId3"/>
          <a:stretch>
            <a:fillRect/>
          </a:stretch>
        </p:blipFill>
        <p:spPr>
          <a:xfrm rot="16200000">
            <a:off x="5169619" y="1169115"/>
            <a:ext cx="3360418" cy="3369150"/>
          </a:xfrm>
          <a:prstGeom prst="rect">
            <a:avLst/>
          </a:prstGeom>
        </p:spPr>
      </p:pic>
    </p:spTree>
    <p:extLst>
      <p:ext uri="{BB962C8B-B14F-4D97-AF65-F5344CB8AC3E}">
        <p14:creationId xmlns:p14="http://schemas.microsoft.com/office/powerpoint/2010/main" val="20379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249680"/>
            <a:ext cx="7924800" cy="1527810"/>
          </a:xfrm>
          <a:prstGeom prst="rect">
            <a:avLst/>
          </a:prstGeom>
          <a:solidFill>
            <a:srgbClr val="1E293B"/>
          </a:solidFill>
          <a:ln/>
          <a:effectLst>
            <a:outerShdw blurRad="152400" dist="76200" dir="5400000" algn="bl" rotWithShape="0">
              <a:srgbClr val="000000">
                <a:alpha val="30000"/>
              </a:srgbClr>
            </a:outerShdw>
          </a:effectLst>
        </p:spPr>
        <p:txBody>
          <a:bodyPr wrap="none" lIns="0" tIns="0" rIns="0" bIns="0" rtlCol="0" anchor="ctr">
            <a:normAutofit/>
          </a:bodyPr>
          <a:lstStyle/>
          <a:p>
            <a:pPr marL="0" indent="0">
              <a:buNone/>
            </a:pPr>
            <a:endParaRPr lang="en-US" dirty="0"/>
          </a:p>
        </p:txBody>
      </p:sp>
      <p:sp>
        <p:nvSpPr>
          <p:cNvPr id="3" name="Text 1"/>
          <p:cNvSpPr/>
          <p:nvPr/>
        </p:nvSpPr>
        <p:spPr>
          <a:xfrm>
            <a:off x="609600" y="3006091"/>
            <a:ext cx="7924800" cy="1527810"/>
          </a:xfrm>
          <a:prstGeom prst="rect">
            <a:avLst/>
          </a:prstGeom>
          <a:solidFill>
            <a:srgbClr val="1E293B"/>
          </a:solidFill>
          <a:ln/>
          <a:effectLst>
            <a:outerShdw blurRad="152400" dist="76200" dir="5400000" algn="bl" rotWithShape="0">
              <a:srgbClr val="000000">
                <a:alpha val="30000"/>
              </a:srgbClr>
            </a:outerShdw>
          </a:effectLst>
        </p:spPr>
        <p:txBody>
          <a:bodyPr wrap="none" lIns="0" tIns="0" rIns="0" bIns="0" rtlCol="0" anchor="ctr">
            <a:normAutofit/>
          </a:bodyPr>
          <a:lstStyle/>
          <a:p>
            <a:pPr marL="0" indent="0">
              <a:buNone/>
            </a:pPr>
            <a:endParaRPr lang="en-US" dirty="0"/>
          </a:p>
        </p:txBody>
      </p:sp>
      <p:sp>
        <p:nvSpPr>
          <p:cNvPr id="4" name="Text 2"/>
          <p:cNvSpPr/>
          <p:nvPr/>
        </p:nvSpPr>
        <p:spPr>
          <a:xfrm>
            <a:off x="609600" y="609600"/>
            <a:ext cx="8083296" cy="411480"/>
          </a:xfrm>
          <a:prstGeom prst="rect">
            <a:avLst/>
          </a:prstGeom>
          <a:noFill/>
          <a:ln/>
        </p:spPr>
        <p:txBody>
          <a:bodyPr wrap="square" lIns="0" tIns="0" rIns="0" bIns="0" rtlCol="0" anchor="t"/>
          <a:lstStyle/>
          <a:p>
            <a:pPr>
              <a:lnSpc>
                <a:spcPts val="4320"/>
              </a:lnSpc>
            </a:pPr>
            <a:r>
              <a:rPr lang="en-US" sz="2400" b="1" dirty="0">
                <a:solidFill>
                  <a:srgbClr val="38BDF8"/>
                </a:solidFill>
                <a:latin typeface="Arial" pitchFamily="34" charset="0"/>
                <a:ea typeface="Arial" pitchFamily="34" charset="-122"/>
                <a:cs typeface="Arial" pitchFamily="34" charset="-120"/>
              </a:rPr>
              <a:t>Data Extraction &amp; Integration Challenges with Solutions</a:t>
            </a:r>
            <a:endParaRPr lang="en-US" sz="2400" dirty="0"/>
          </a:p>
        </p:txBody>
      </p:sp>
      <p:sp>
        <p:nvSpPr>
          <p:cNvPr id="11" name="Text 1">
            <a:extLst>
              <a:ext uri="{FF2B5EF4-FFF2-40B4-BE49-F238E27FC236}">
                <a16:creationId xmlns:a16="http://schemas.microsoft.com/office/drawing/2014/main" id="{6D40F6D0-0FAA-344F-750B-AC065586B8D5}"/>
              </a:ext>
            </a:extLst>
          </p:cNvPr>
          <p:cNvSpPr/>
          <p:nvPr/>
        </p:nvSpPr>
        <p:spPr>
          <a:xfrm>
            <a:off x="609600" y="3129915"/>
            <a:ext cx="7924800" cy="1527810"/>
          </a:xfrm>
          <a:prstGeom prst="rect">
            <a:avLst/>
          </a:prstGeom>
          <a:solidFill>
            <a:srgbClr val="1E293B"/>
          </a:solidFill>
          <a:ln/>
          <a:effectLst>
            <a:outerShdw blurRad="152400" dist="76200" dir="5400000" algn="bl" rotWithShape="0">
              <a:srgbClr val="000000">
                <a:alpha val="30000"/>
              </a:srgbClr>
            </a:outerShdw>
          </a:effectLst>
        </p:spPr>
        <p:txBody>
          <a:bodyPr wrap="none" lIns="0" tIns="0" rIns="0" bIns="0" rtlCol="0" anchor="ctr">
            <a:normAutofit/>
          </a:bodyPr>
          <a:lstStyle/>
          <a:p>
            <a:pPr marL="0" indent="0">
              <a:buNone/>
            </a:pPr>
            <a:endParaRPr lang="en-US" dirty="0"/>
          </a:p>
        </p:txBody>
      </p:sp>
      <p:sp>
        <p:nvSpPr>
          <p:cNvPr id="12" name="Text 3">
            <a:extLst>
              <a:ext uri="{FF2B5EF4-FFF2-40B4-BE49-F238E27FC236}">
                <a16:creationId xmlns:a16="http://schemas.microsoft.com/office/drawing/2014/main" id="{EB74584F-9C83-CB27-EC81-76C8FA266599}"/>
              </a:ext>
            </a:extLst>
          </p:cNvPr>
          <p:cNvSpPr/>
          <p:nvPr/>
        </p:nvSpPr>
        <p:spPr>
          <a:xfrm>
            <a:off x="838200" y="1478280"/>
            <a:ext cx="7616952" cy="228600"/>
          </a:xfrm>
          <a:prstGeom prst="rect">
            <a:avLst/>
          </a:prstGeom>
          <a:noFill/>
          <a:ln/>
        </p:spPr>
        <p:txBody>
          <a:bodyPr wrap="square" lIns="0" tIns="0" rIns="0" bIns="0" rtlCol="0" anchor="t"/>
          <a:lstStyle/>
          <a:p>
            <a:pPr marL="0" indent="0">
              <a:lnSpc>
                <a:spcPts val="2400"/>
              </a:lnSpc>
              <a:buNone/>
            </a:pPr>
            <a:r>
              <a:rPr lang="en-US" sz="1500" b="1" dirty="0">
                <a:solidFill>
                  <a:srgbClr val="38BDF8"/>
                </a:solidFill>
                <a:latin typeface="Arial" pitchFamily="34" charset="0"/>
                <a:ea typeface="Arial" pitchFamily="34" charset="-122"/>
                <a:cs typeface="Arial" pitchFamily="34" charset="-120"/>
              </a:rPr>
              <a:t>Challenge 1</a:t>
            </a:r>
            <a:endParaRPr lang="en-US" sz="1500" dirty="0"/>
          </a:p>
        </p:txBody>
      </p:sp>
      <p:sp>
        <p:nvSpPr>
          <p:cNvPr id="13" name="Text 4">
            <a:extLst>
              <a:ext uri="{FF2B5EF4-FFF2-40B4-BE49-F238E27FC236}">
                <a16:creationId xmlns:a16="http://schemas.microsoft.com/office/drawing/2014/main" id="{DD24DDB2-B7F1-4116-D4A3-44A51D3CEB2B}"/>
              </a:ext>
            </a:extLst>
          </p:cNvPr>
          <p:cNvSpPr/>
          <p:nvPr/>
        </p:nvSpPr>
        <p:spPr>
          <a:xfrm>
            <a:off x="838200" y="1822550"/>
            <a:ext cx="7616952" cy="202644"/>
          </a:xfrm>
          <a:prstGeom prst="rect">
            <a:avLst/>
          </a:prstGeom>
          <a:noFill/>
          <a:ln/>
        </p:spPr>
        <p:txBody>
          <a:bodyPr wrap="square" lIns="0" tIns="0" rIns="0" bIns="0" rtlCol="0" anchor="t"/>
          <a:lstStyle/>
          <a:p>
            <a:pPr marL="0" indent="0">
              <a:lnSpc>
                <a:spcPts val="2128"/>
              </a:lnSpc>
              <a:buNone/>
            </a:pPr>
            <a:r>
              <a:rPr lang="en-US" sz="1200" b="1" dirty="0">
                <a:solidFill>
                  <a:srgbClr val="CBD5E1"/>
                </a:solidFill>
                <a:latin typeface="Arial" pitchFamily="34" charset="0"/>
                <a:ea typeface="Arial" pitchFamily="34" charset="-122"/>
                <a:cs typeface="Arial" pitchFamily="34" charset="-120"/>
              </a:rPr>
              <a:t>Multi-Aneurysm Duplicates:</a:t>
            </a:r>
            <a:r>
              <a:rPr lang="en-US" sz="1200" dirty="0">
                <a:solidFill>
                  <a:srgbClr val="CBD5E1"/>
                </a:solidFill>
                <a:latin typeface="Arial" pitchFamily="34" charset="0"/>
                <a:ea typeface="Arial" pitchFamily="34" charset="-122"/>
                <a:cs typeface="Arial" pitchFamily="34" charset="-120"/>
              </a:rPr>
              <a:t> Patients with multiple aneurysms lacked unique IDs</a:t>
            </a:r>
            <a:endParaRPr lang="en-US" sz="1200" dirty="0"/>
          </a:p>
        </p:txBody>
      </p:sp>
      <p:sp>
        <p:nvSpPr>
          <p:cNvPr id="14" name="Text 5">
            <a:extLst>
              <a:ext uri="{FF2B5EF4-FFF2-40B4-BE49-F238E27FC236}">
                <a16:creationId xmlns:a16="http://schemas.microsoft.com/office/drawing/2014/main" id="{1E3EEE25-CA01-89A7-E12E-72DB343974A5}"/>
              </a:ext>
            </a:extLst>
          </p:cNvPr>
          <p:cNvSpPr/>
          <p:nvPr/>
        </p:nvSpPr>
        <p:spPr>
          <a:xfrm>
            <a:off x="838200" y="2151577"/>
            <a:ext cx="7616952" cy="191929"/>
          </a:xfrm>
          <a:prstGeom prst="rect">
            <a:avLst/>
          </a:prstGeom>
          <a:noFill/>
          <a:ln/>
        </p:spPr>
        <p:txBody>
          <a:bodyPr wrap="square" lIns="0" tIns="0" rIns="0" bIns="0" rtlCol="0" anchor="t"/>
          <a:lstStyle/>
          <a:p>
            <a:pPr>
              <a:lnSpc>
                <a:spcPts val="2016"/>
              </a:lnSpc>
            </a:pPr>
            <a:r>
              <a:rPr lang="en-US" sz="1080" dirty="0">
                <a:solidFill>
                  <a:schemeClr val="accent6">
                    <a:lumMod val="20000"/>
                    <a:lumOff val="80000"/>
                  </a:schemeClr>
                </a:solidFill>
                <a:latin typeface="Arial" pitchFamily="34" charset="0"/>
                <a:ea typeface="Arial" pitchFamily="34" charset="-122"/>
                <a:cs typeface="Arial" pitchFamily="34" charset="-120"/>
              </a:rPr>
              <a:t>✓ Solution: Added suffixes (_1, _2) via Python logic, Inner Join filtered to 104 complete records </a:t>
            </a:r>
            <a:endParaRPr lang="en-US" sz="1080" dirty="0">
              <a:solidFill>
                <a:schemeClr val="accent6">
                  <a:lumMod val="20000"/>
                  <a:lumOff val="80000"/>
                </a:schemeClr>
              </a:solidFill>
            </a:endParaRPr>
          </a:p>
        </p:txBody>
      </p:sp>
      <p:sp>
        <p:nvSpPr>
          <p:cNvPr id="15" name="Text 6">
            <a:extLst>
              <a:ext uri="{FF2B5EF4-FFF2-40B4-BE49-F238E27FC236}">
                <a16:creationId xmlns:a16="http://schemas.microsoft.com/office/drawing/2014/main" id="{F4BE09CA-ABD2-B6D4-3CC1-E127B4CE954F}"/>
              </a:ext>
            </a:extLst>
          </p:cNvPr>
          <p:cNvSpPr/>
          <p:nvPr/>
        </p:nvSpPr>
        <p:spPr>
          <a:xfrm>
            <a:off x="838200" y="3234691"/>
            <a:ext cx="7616952" cy="228600"/>
          </a:xfrm>
          <a:prstGeom prst="rect">
            <a:avLst/>
          </a:prstGeom>
          <a:noFill/>
          <a:ln/>
        </p:spPr>
        <p:txBody>
          <a:bodyPr wrap="square" lIns="0" tIns="0" rIns="0" bIns="0" rtlCol="0" anchor="t"/>
          <a:lstStyle/>
          <a:p>
            <a:pPr marL="0" indent="0">
              <a:lnSpc>
                <a:spcPts val="2400"/>
              </a:lnSpc>
              <a:buNone/>
            </a:pPr>
            <a:r>
              <a:rPr lang="en-US" sz="1500" b="1" dirty="0">
                <a:solidFill>
                  <a:srgbClr val="38BDF8"/>
                </a:solidFill>
                <a:latin typeface="Arial" pitchFamily="34" charset="0"/>
                <a:ea typeface="Arial" pitchFamily="34" charset="-122"/>
                <a:cs typeface="Arial" pitchFamily="34" charset="-120"/>
              </a:rPr>
              <a:t>Challenge 2</a:t>
            </a:r>
          </a:p>
          <a:p>
            <a:pPr>
              <a:lnSpc>
                <a:spcPts val="2400"/>
              </a:lnSpc>
            </a:pPr>
            <a:r>
              <a:rPr lang="en-US" sz="1400" dirty="0">
                <a:solidFill>
                  <a:schemeClr val="bg1">
                    <a:lumMod val="95000"/>
                  </a:schemeClr>
                </a:solidFill>
              </a:rPr>
              <a:t>From 454 to 104: Extracting Complete Multi-Modal Patient Data for Clinical ML</a:t>
            </a:r>
          </a:p>
        </p:txBody>
      </p:sp>
      <p:sp>
        <p:nvSpPr>
          <p:cNvPr id="16" name="Text 7">
            <a:extLst>
              <a:ext uri="{FF2B5EF4-FFF2-40B4-BE49-F238E27FC236}">
                <a16:creationId xmlns:a16="http://schemas.microsoft.com/office/drawing/2014/main" id="{8D2EB972-B474-FD93-FB7B-2BB50794F01C}"/>
              </a:ext>
            </a:extLst>
          </p:cNvPr>
          <p:cNvSpPr/>
          <p:nvPr/>
        </p:nvSpPr>
        <p:spPr>
          <a:xfrm>
            <a:off x="838200" y="3463291"/>
            <a:ext cx="7616952" cy="202644"/>
          </a:xfrm>
          <a:prstGeom prst="rect">
            <a:avLst/>
          </a:prstGeom>
          <a:noFill/>
          <a:ln/>
        </p:spPr>
        <p:txBody>
          <a:bodyPr wrap="square" lIns="0" tIns="0" rIns="0" bIns="0" rtlCol="0" anchor="t"/>
          <a:lstStyle/>
          <a:p>
            <a:pPr marL="0" indent="0">
              <a:lnSpc>
                <a:spcPts val="2128"/>
              </a:lnSpc>
              <a:buNone/>
            </a:pPr>
            <a:endParaRPr lang="en-US" sz="1140" dirty="0"/>
          </a:p>
        </p:txBody>
      </p:sp>
      <p:sp>
        <p:nvSpPr>
          <p:cNvPr id="17" name="Text 8">
            <a:extLst>
              <a:ext uri="{FF2B5EF4-FFF2-40B4-BE49-F238E27FC236}">
                <a16:creationId xmlns:a16="http://schemas.microsoft.com/office/drawing/2014/main" id="{7AB00501-8E00-BD08-9953-C7D3B506CD2C}"/>
              </a:ext>
            </a:extLst>
          </p:cNvPr>
          <p:cNvSpPr/>
          <p:nvPr/>
        </p:nvSpPr>
        <p:spPr>
          <a:xfrm>
            <a:off x="838200" y="3893820"/>
            <a:ext cx="7616952" cy="191929"/>
          </a:xfrm>
          <a:prstGeom prst="rect">
            <a:avLst/>
          </a:prstGeom>
          <a:noFill/>
          <a:ln/>
        </p:spPr>
        <p:txBody>
          <a:bodyPr wrap="square" lIns="0" tIns="0" rIns="0" bIns="0" rtlCol="0" anchor="t"/>
          <a:lstStyle/>
          <a:p>
            <a:pPr marL="0" indent="0">
              <a:lnSpc>
                <a:spcPts val="2016"/>
              </a:lnSpc>
              <a:buNone/>
            </a:pPr>
            <a:r>
              <a:rPr lang="en-US" sz="1080" dirty="0">
                <a:solidFill>
                  <a:schemeClr val="accent6">
                    <a:lumMod val="20000"/>
                    <a:lumOff val="80000"/>
                  </a:schemeClr>
                </a:solidFill>
                <a:latin typeface="Arial" pitchFamily="34" charset="0"/>
                <a:ea typeface="Arial" pitchFamily="34" charset="-122"/>
                <a:cs typeface="Arial" pitchFamily="34" charset="-120"/>
              </a:rPr>
              <a:t>✓ Solution: Future direction</a:t>
            </a:r>
            <a:endParaRPr lang="en-US" sz="1080" dirty="0">
              <a:solidFill>
                <a:schemeClr val="accent6">
                  <a:lumMod val="20000"/>
                  <a:lumOff val="8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569665" y="182950"/>
            <a:ext cx="2250043" cy="990600"/>
          </a:xfrm>
          <a:prstGeom prst="rect">
            <a:avLst/>
          </a:prstGeom>
          <a:solidFill>
            <a:srgbClr val="1E293B"/>
          </a:solidFill>
          <a:ln/>
          <a:effectLst>
            <a:outerShdw blurRad="152400" dist="76200" dir="5400000" algn="bl" rotWithShape="0">
              <a:srgbClr val="000000">
                <a:alpha val="30000"/>
              </a:srgbClr>
            </a:outerShdw>
          </a:effectLst>
        </p:spPr>
        <p:txBody>
          <a:bodyPr wrap="none" lIns="0" tIns="0" rIns="0" bIns="0" rtlCol="0" anchor="ctr">
            <a:normAutofit/>
          </a:bodyPr>
          <a:lstStyle/>
          <a:p>
            <a:pPr marL="0" indent="0">
              <a:buNone/>
            </a:pPr>
            <a:endParaRPr lang="en-US" dirty="0">
              <a:solidFill>
                <a:schemeClr val="accent1">
                  <a:lumMod val="20000"/>
                  <a:lumOff val="80000"/>
                </a:schemeClr>
              </a:solidFill>
            </a:endParaRPr>
          </a:p>
        </p:txBody>
      </p:sp>
      <p:sp>
        <p:nvSpPr>
          <p:cNvPr id="3" name="Text 1"/>
          <p:cNvSpPr/>
          <p:nvPr/>
        </p:nvSpPr>
        <p:spPr>
          <a:xfrm>
            <a:off x="6111984" y="1737961"/>
            <a:ext cx="2854523" cy="990600"/>
          </a:xfrm>
          <a:prstGeom prst="rect">
            <a:avLst/>
          </a:prstGeom>
          <a:solidFill>
            <a:srgbClr val="1E293B"/>
          </a:solidFill>
          <a:ln/>
          <a:effectLst>
            <a:outerShdw blurRad="152400" dist="76200" dir="5400000" algn="bl" rotWithShape="0">
              <a:srgbClr val="000000">
                <a:alpha val="30000"/>
              </a:srgbClr>
            </a:outerShdw>
          </a:effectLst>
        </p:spPr>
        <p:txBody>
          <a:bodyPr wrap="none" lIns="0" tIns="0" rIns="0" bIns="0" rtlCol="0" anchor="ctr">
            <a:normAutofit/>
          </a:bodyPr>
          <a:lstStyle/>
          <a:p>
            <a:pPr marL="0" indent="0">
              <a:buNone/>
            </a:pPr>
            <a:endParaRPr lang="en-US" dirty="0"/>
          </a:p>
        </p:txBody>
      </p:sp>
      <p:sp>
        <p:nvSpPr>
          <p:cNvPr id="4" name="Text 2"/>
          <p:cNvSpPr/>
          <p:nvPr/>
        </p:nvSpPr>
        <p:spPr>
          <a:xfrm>
            <a:off x="527311" y="3005789"/>
            <a:ext cx="1888569" cy="990600"/>
          </a:xfrm>
          <a:prstGeom prst="rect">
            <a:avLst/>
          </a:prstGeom>
          <a:solidFill>
            <a:srgbClr val="1E293B"/>
          </a:solidFill>
          <a:ln/>
          <a:effectLst>
            <a:outerShdw blurRad="152400" dist="76200" dir="5400000" algn="bl" rotWithShape="0">
              <a:srgbClr val="000000">
                <a:alpha val="30000"/>
              </a:srgbClr>
            </a:outerShdw>
          </a:effectLst>
        </p:spPr>
        <p:txBody>
          <a:bodyPr wrap="none" lIns="0" tIns="0" rIns="0" bIns="0" rtlCol="0" anchor="ctr">
            <a:normAutofit/>
          </a:bodyPr>
          <a:lstStyle/>
          <a:p>
            <a:pPr marL="0" indent="0">
              <a:buNone/>
            </a:pPr>
            <a:endParaRPr lang="en-US" dirty="0"/>
          </a:p>
        </p:txBody>
      </p:sp>
      <p:sp>
        <p:nvSpPr>
          <p:cNvPr id="5" name="Text 3"/>
          <p:cNvSpPr/>
          <p:nvPr/>
        </p:nvSpPr>
        <p:spPr>
          <a:xfrm>
            <a:off x="6755060" y="4079507"/>
            <a:ext cx="1707952" cy="990600"/>
          </a:xfrm>
          <a:prstGeom prst="rect">
            <a:avLst/>
          </a:prstGeom>
          <a:solidFill>
            <a:srgbClr val="1E293B"/>
          </a:solidFill>
          <a:ln/>
          <a:effectLst>
            <a:outerShdw blurRad="152400" dist="76200" dir="5400000" algn="bl" rotWithShape="0">
              <a:srgbClr val="000000">
                <a:alpha val="30000"/>
              </a:srgbClr>
            </a:outerShdw>
          </a:effectLst>
        </p:spPr>
        <p:txBody>
          <a:bodyPr wrap="none" lIns="0" tIns="0" rIns="0" bIns="0" rtlCol="0" anchor="ctr">
            <a:normAutofit/>
          </a:bodyPr>
          <a:lstStyle/>
          <a:p>
            <a:pPr marL="0" indent="0">
              <a:buNone/>
            </a:pPr>
            <a:endParaRPr lang="en-US" dirty="0"/>
          </a:p>
        </p:txBody>
      </p:sp>
      <p:sp>
        <p:nvSpPr>
          <p:cNvPr id="6" name="Text 4"/>
          <p:cNvSpPr/>
          <p:nvPr/>
        </p:nvSpPr>
        <p:spPr>
          <a:xfrm>
            <a:off x="278731" y="73393"/>
            <a:ext cx="8083296" cy="411480"/>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Final Dataset Profile</a:t>
            </a:r>
            <a:endParaRPr lang="en-US" sz="2700" dirty="0"/>
          </a:p>
        </p:txBody>
      </p:sp>
      <p:sp>
        <p:nvSpPr>
          <p:cNvPr id="7" name="Text 5"/>
          <p:cNvSpPr/>
          <p:nvPr/>
        </p:nvSpPr>
        <p:spPr>
          <a:xfrm>
            <a:off x="5742081" y="255270"/>
            <a:ext cx="1828700" cy="320040"/>
          </a:xfrm>
          <a:prstGeom prst="rect">
            <a:avLst/>
          </a:prstGeom>
          <a:noFill/>
          <a:ln/>
        </p:spPr>
        <p:txBody>
          <a:bodyPr wrap="square" lIns="0" tIns="0" rIns="0" bIns="0" rtlCol="0" anchor="t"/>
          <a:lstStyle/>
          <a:p>
            <a:pPr marL="0" indent="0">
              <a:lnSpc>
                <a:spcPts val="3360"/>
              </a:lnSpc>
              <a:buNone/>
            </a:pPr>
            <a:r>
              <a:rPr lang="en-US" sz="1800" b="1" dirty="0">
                <a:solidFill>
                  <a:srgbClr val="38BDF8"/>
                </a:solidFill>
                <a:latin typeface="Arial" pitchFamily="34" charset="0"/>
                <a:ea typeface="Arial" pitchFamily="34" charset="-122"/>
                <a:cs typeface="Arial" pitchFamily="34" charset="-120"/>
              </a:rPr>
              <a:t>104</a:t>
            </a:r>
            <a:endParaRPr lang="en-US" sz="1800" dirty="0"/>
          </a:p>
        </p:txBody>
      </p:sp>
      <p:sp>
        <p:nvSpPr>
          <p:cNvPr id="8" name="Text 6"/>
          <p:cNvSpPr/>
          <p:nvPr/>
        </p:nvSpPr>
        <p:spPr>
          <a:xfrm>
            <a:off x="5780336" y="709259"/>
            <a:ext cx="1828700" cy="213360"/>
          </a:xfrm>
          <a:prstGeom prst="rect">
            <a:avLst/>
          </a:prstGeom>
          <a:noFill/>
          <a:ln/>
        </p:spPr>
        <p:txBody>
          <a:bodyPr wrap="square" lIns="0" tIns="0" rIns="0" bIns="0" rtlCol="0" anchor="t"/>
          <a:lstStyle/>
          <a:p>
            <a:pPr marL="0" indent="0">
              <a:lnSpc>
                <a:spcPts val="2240"/>
              </a:lnSpc>
              <a:buNone/>
            </a:pPr>
            <a:r>
              <a:rPr lang="en-US" sz="1200">
                <a:solidFill>
                  <a:srgbClr val="CBD5E1"/>
                </a:solidFill>
                <a:latin typeface="Arial" pitchFamily="34" charset="0"/>
                <a:ea typeface="Arial" pitchFamily="34" charset="-122"/>
                <a:cs typeface="Arial" pitchFamily="34" charset="-120"/>
              </a:rPr>
              <a:t>Valid Multi-Modal Samples</a:t>
            </a:r>
            <a:endParaRPr lang="en-US" sz="1200" dirty="0"/>
          </a:p>
        </p:txBody>
      </p:sp>
      <p:sp>
        <p:nvSpPr>
          <p:cNvPr id="9" name="Text 7"/>
          <p:cNvSpPr/>
          <p:nvPr/>
        </p:nvSpPr>
        <p:spPr>
          <a:xfrm>
            <a:off x="6237215" y="1737961"/>
            <a:ext cx="2445270" cy="320040"/>
          </a:xfrm>
          <a:prstGeom prst="rect">
            <a:avLst/>
          </a:prstGeom>
          <a:noFill/>
          <a:ln/>
        </p:spPr>
        <p:txBody>
          <a:bodyPr wrap="square" lIns="0" tIns="0" rIns="0" bIns="0" rtlCol="0" anchor="t"/>
          <a:lstStyle/>
          <a:p>
            <a:pPr marL="0" indent="0">
              <a:lnSpc>
                <a:spcPts val="3360"/>
              </a:lnSpc>
              <a:buNone/>
            </a:pPr>
            <a:r>
              <a:rPr lang="en-US" sz="1800" b="1" dirty="0">
                <a:solidFill>
                  <a:srgbClr val="38BDF8"/>
                </a:solidFill>
                <a:latin typeface="Arial" pitchFamily="34" charset="0"/>
                <a:ea typeface="Arial" pitchFamily="34" charset="-122"/>
                <a:cs typeface="Arial" pitchFamily="34" charset="-120"/>
              </a:rPr>
              <a:t>77 / 27</a:t>
            </a:r>
            <a:endParaRPr lang="en-US" sz="1800" dirty="0"/>
          </a:p>
        </p:txBody>
      </p:sp>
      <p:sp>
        <p:nvSpPr>
          <p:cNvPr id="10" name="Text 8"/>
          <p:cNvSpPr/>
          <p:nvPr/>
        </p:nvSpPr>
        <p:spPr>
          <a:xfrm>
            <a:off x="6111984" y="2320186"/>
            <a:ext cx="2445270" cy="213360"/>
          </a:xfrm>
          <a:prstGeom prst="rect">
            <a:avLst/>
          </a:prstGeom>
          <a:noFill/>
          <a:ln/>
        </p:spPr>
        <p:txBody>
          <a:bodyPr wrap="square" lIns="0" tIns="0" rIns="0" bIns="0" rtlCol="0" anchor="t"/>
          <a:lstStyle/>
          <a:p>
            <a:pPr marL="0" indent="0">
              <a:lnSpc>
                <a:spcPts val="2240"/>
              </a:lnSpc>
              <a:buNone/>
            </a:pPr>
            <a:r>
              <a:rPr lang="en-US" sz="1200" dirty="0">
                <a:solidFill>
                  <a:srgbClr val="CBD5E1"/>
                </a:solidFill>
                <a:latin typeface="Arial" pitchFamily="34" charset="0"/>
                <a:ea typeface="Arial" pitchFamily="34" charset="-122"/>
                <a:cs typeface="Arial" pitchFamily="34" charset="-120"/>
              </a:rPr>
              <a:t>Ruptured / Unruptured (74% / 26%)</a:t>
            </a:r>
            <a:endParaRPr lang="en-US" sz="1200" dirty="0"/>
          </a:p>
        </p:txBody>
      </p:sp>
      <p:sp>
        <p:nvSpPr>
          <p:cNvPr id="11" name="Text 9"/>
          <p:cNvSpPr/>
          <p:nvPr/>
        </p:nvSpPr>
        <p:spPr>
          <a:xfrm>
            <a:off x="785712" y="2923576"/>
            <a:ext cx="1459997" cy="320040"/>
          </a:xfrm>
          <a:prstGeom prst="rect">
            <a:avLst/>
          </a:prstGeom>
          <a:noFill/>
          <a:ln/>
        </p:spPr>
        <p:txBody>
          <a:bodyPr wrap="square" lIns="0" tIns="0" rIns="0" bIns="0" rtlCol="0" anchor="t"/>
          <a:lstStyle/>
          <a:p>
            <a:pPr marL="0" indent="0">
              <a:lnSpc>
                <a:spcPts val="3360"/>
              </a:lnSpc>
              <a:buNone/>
            </a:pPr>
            <a:r>
              <a:rPr lang="en-US" sz="1800" b="1" dirty="0">
                <a:solidFill>
                  <a:srgbClr val="38BDF8"/>
                </a:solidFill>
                <a:latin typeface="Arial" pitchFamily="34" charset="0"/>
                <a:ea typeface="Arial" pitchFamily="34" charset="-122"/>
                <a:cs typeface="Arial" pitchFamily="34" charset="-120"/>
              </a:rPr>
              <a:t>17</a:t>
            </a:r>
            <a:endParaRPr lang="en-US" sz="1800" dirty="0"/>
          </a:p>
        </p:txBody>
      </p:sp>
      <p:sp>
        <p:nvSpPr>
          <p:cNvPr id="12" name="Text 10"/>
          <p:cNvSpPr/>
          <p:nvPr/>
        </p:nvSpPr>
        <p:spPr>
          <a:xfrm>
            <a:off x="750810" y="3513322"/>
            <a:ext cx="1459997" cy="213360"/>
          </a:xfrm>
          <a:prstGeom prst="rect">
            <a:avLst/>
          </a:prstGeom>
          <a:noFill/>
          <a:ln/>
        </p:spPr>
        <p:txBody>
          <a:bodyPr wrap="square" lIns="0" tIns="0" rIns="0" bIns="0" rtlCol="0" anchor="t"/>
          <a:lstStyle/>
          <a:p>
            <a:pPr marL="0" indent="0">
              <a:lnSpc>
                <a:spcPts val="2240"/>
              </a:lnSpc>
              <a:buNone/>
            </a:pPr>
            <a:r>
              <a:rPr lang="en-US" sz="1200" dirty="0">
                <a:solidFill>
                  <a:srgbClr val="CBD5E1"/>
                </a:solidFill>
                <a:latin typeface="Arial" pitchFamily="34" charset="0"/>
                <a:ea typeface="Arial" pitchFamily="34" charset="-122"/>
                <a:cs typeface="Arial" pitchFamily="34" charset="-120"/>
              </a:rPr>
              <a:t>Multi-Modal Features</a:t>
            </a:r>
            <a:endParaRPr lang="en-US" sz="1200" dirty="0"/>
          </a:p>
        </p:txBody>
      </p:sp>
      <p:sp>
        <p:nvSpPr>
          <p:cNvPr id="13" name="Text 11"/>
          <p:cNvSpPr/>
          <p:nvPr/>
        </p:nvSpPr>
        <p:spPr>
          <a:xfrm>
            <a:off x="7086260" y="4209849"/>
            <a:ext cx="1275767" cy="320040"/>
          </a:xfrm>
          <a:prstGeom prst="rect">
            <a:avLst/>
          </a:prstGeom>
          <a:noFill/>
          <a:ln/>
        </p:spPr>
        <p:txBody>
          <a:bodyPr wrap="square" lIns="0" tIns="0" rIns="0" bIns="0" rtlCol="0" anchor="t"/>
          <a:lstStyle/>
          <a:p>
            <a:pPr marL="0" indent="0">
              <a:lnSpc>
                <a:spcPts val="3360"/>
              </a:lnSpc>
              <a:buNone/>
            </a:pPr>
            <a:r>
              <a:rPr lang="en-US" sz="1800" b="1" dirty="0">
                <a:solidFill>
                  <a:srgbClr val="38BDF8"/>
                </a:solidFill>
                <a:latin typeface="Arial" pitchFamily="34" charset="0"/>
                <a:ea typeface="Arial" pitchFamily="34" charset="-122"/>
                <a:cs typeface="Arial" pitchFamily="34" charset="-120"/>
              </a:rPr>
              <a:t>Binary</a:t>
            </a:r>
            <a:endParaRPr lang="en-US" sz="1800" dirty="0"/>
          </a:p>
        </p:txBody>
      </p:sp>
      <p:sp>
        <p:nvSpPr>
          <p:cNvPr id="14" name="Text 12"/>
          <p:cNvSpPr/>
          <p:nvPr/>
        </p:nvSpPr>
        <p:spPr>
          <a:xfrm>
            <a:off x="7151565" y="4674870"/>
            <a:ext cx="1275767" cy="213360"/>
          </a:xfrm>
          <a:prstGeom prst="rect">
            <a:avLst/>
          </a:prstGeom>
          <a:noFill/>
          <a:ln/>
        </p:spPr>
        <p:txBody>
          <a:bodyPr wrap="square" lIns="0" tIns="0" rIns="0" bIns="0" rtlCol="0" anchor="t"/>
          <a:lstStyle/>
          <a:p>
            <a:pPr marL="0" indent="0">
              <a:lnSpc>
                <a:spcPts val="2240"/>
              </a:lnSpc>
              <a:buNone/>
            </a:pPr>
            <a:r>
              <a:rPr lang="en-US" sz="1200" dirty="0">
                <a:solidFill>
                  <a:srgbClr val="CBD5E1"/>
                </a:solidFill>
                <a:latin typeface="Arial" pitchFamily="34" charset="0"/>
                <a:ea typeface="Arial" pitchFamily="34" charset="-122"/>
                <a:cs typeface="Arial" pitchFamily="34" charset="-120"/>
              </a:rPr>
              <a:t>Classification Task</a:t>
            </a:r>
            <a:endParaRPr lang="en-US" sz="1200" dirty="0"/>
          </a:p>
        </p:txBody>
      </p:sp>
      <p:pic>
        <p:nvPicPr>
          <p:cNvPr id="16" name="Picture 15">
            <a:extLst>
              <a:ext uri="{FF2B5EF4-FFF2-40B4-BE49-F238E27FC236}">
                <a16:creationId xmlns:a16="http://schemas.microsoft.com/office/drawing/2014/main" id="{5B12FFF3-1639-54E7-B2E9-0B0495772E6A}"/>
              </a:ext>
            </a:extLst>
          </p:cNvPr>
          <p:cNvPicPr>
            <a:picLocks noChangeAspect="1"/>
          </p:cNvPicPr>
          <p:nvPr/>
        </p:nvPicPr>
        <p:blipFill>
          <a:blip r:embed="rId3"/>
          <a:stretch>
            <a:fillRect/>
          </a:stretch>
        </p:blipFill>
        <p:spPr>
          <a:xfrm>
            <a:off x="256889" y="781920"/>
            <a:ext cx="5179111" cy="1826011"/>
          </a:xfrm>
          <a:prstGeom prst="rect">
            <a:avLst/>
          </a:prstGeom>
        </p:spPr>
      </p:pic>
      <p:pic>
        <p:nvPicPr>
          <p:cNvPr id="20" name="Picture 19">
            <a:extLst>
              <a:ext uri="{FF2B5EF4-FFF2-40B4-BE49-F238E27FC236}">
                <a16:creationId xmlns:a16="http://schemas.microsoft.com/office/drawing/2014/main" id="{63990ED7-0F37-3B90-BBEB-09B388735733}"/>
              </a:ext>
            </a:extLst>
          </p:cNvPr>
          <p:cNvPicPr>
            <a:picLocks noChangeAspect="1"/>
          </p:cNvPicPr>
          <p:nvPr/>
        </p:nvPicPr>
        <p:blipFill>
          <a:blip r:embed="rId4"/>
          <a:stretch>
            <a:fillRect/>
          </a:stretch>
        </p:blipFill>
        <p:spPr>
          <a:xfrm>
            <a:off x="2842297" y="2642624"/>
            <a:ext cx="2593703" cy="250087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181966"/>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181595"/>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9144001" cy="1180732"/>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524784" y="186028"/>
            <a:ext cx="5297791" cy="869400"/>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2800" b="1" kern="1200" dirty="0">
                <a:solidFill>
                  <a:srgbClr val="FFFFFF"/>
                </a:solidFill>
                <a:latin typeface="+mj-lt"/>
                <a:ea typeface="+mj-ea"/>
                <a:cs typeface="+mj-cs"/>
              </a:rPr>
              <a:t>Feature Selection &amp; Ranking (ANOVA F-Test)</a:t>
            </a:r>
            <a:endParaRPr lang="en-US" sz="2800" kern="1200" dirty="0">
              <a:solidFill>
                <a:srgbClr val="FFFFFF"/>
              </a:solidFill>
              <a:latin typeface="+mj-lt"/>
              <a:ea typeface="+mj-ea"/>
              <a:cs typeface="+mj-cs"/>
            </a:endParaRPr>
          </a:p>
        </p:txBody>
      </p:sp>
      <p:graphicFrame>
        <p:nvGraphicFramePr>
          <p:cNvPr id="3" name="Table 2">
            <a:extLst>
              <a:ext uri="{FF2B5EF4-FFF2-40B4-BE49-F238E27FC236}">
                <a16:creationId xmlns:a16="http://schemas.microsoft.com/office/drawing/2014/main" id="{D9C45567-0F8E-3EC7-7454-C29638C8C029}"/>
              </a:ext>
            </a:extLst>
          </p:cNvPr>
          <p:cNvGraphicFramePr>
            <a:graphicFrameLocks noGrp="1"/>
          </p:cNvGraphicFramePr>
          <p:nvPr>
            <p:extLst>
              <p:ext uri="{D42A27DB-BD31-4B8C-83A1-F6EECF244321}">
                <p14:modId xmlns:p14="http://schemas.microsoft.com/office/powerpoint/2010/main" val="443057435"/>
              </p:ext>
            </p:extLst>
          </p:nvPr>
        </p:nvGraphicFramePr>
        <p:xfrm>
          <a:off x="324169" y="1706056"/>
          <a:ext cx="3765431" cy="3063431"/>
        </p:xfrm>
        <a:graphic>
          <a:graphicData uri="http://schemas.openxmlformats.org/drawingml/2006/table">
            <a:tbl>
              <a:tblPr firstRow="1" bandRow="1"/>
              <a:tblGrid>
                <a:gridCol w="415302">
                  <a:extLst>
                    <a:ext uri="{9D8B030D-6E8A-4147-A177-3AD203B41FA5}">
                      <a16:colId xmlns:a16="http://schemas.microsoft.com/office/drawing/2014/main" val="257766970"/>
                    </a:ext>
                  </a:extLst>
                </a:gridCol>
                <a:gridCol w="1127293">
                  <a:extLst>
                    <a:ext uri="{9D8B030D-6E8A-4147-A177-3AD203B41FA5}">
                      <a16:colId xmlns:a16="http://schemas.microsoft.com/office/drawing/2014/main" val="2394167521"/>
                    </a:ext>
                  </a:extLst>
                </a:gridCol>
                <a:gridCol w="846785">
                  <a:extLst>
                    <a:ext uri="{9D8B030D-6E8A-4147-A177-3AD203B41FA5}">
                      <a16:colId xmlns:a16="http://schemas.microsoft.com/office/drawing/2014/main" val="511404755"/>
                    </a:ext>
                  </a:extLst>
                </a:gridCol>
                <a:gridCol w="554352">
                  <a:extLst>
                    <a:ext uri="{9D8B030D-6E8A-4147-A177-3AD203B41FA5}">
                      <a16:colId xmlns:a16="http://schemas.microsoft.com/office/drawing/2014/main" val="4192225434"/>
                    </a:ext>
                  </a:extLst>
                </a:gridCol>
                <a:gridCol w="821699">
                  <a:extLst>
                    <a:ext uri="{9D8B030D-6E8A-4147-A177-3AD203B41FA5}">
                      <a16:colId xmlns:a16="http://schemas.microsoft.com/office/drawing/2014/main" val="1953868665"/>
                    </a:ext>
                  </a:extLst>
                </a:gridCol>
              </a:tblGrid>
              <a:tr h="561851">
                <a:tc>
                  <a:txBody>
                    <a:bodyPr/>
                    <a:lstStyle/>
                    <a:p>
                      <a:pPr algn="l" fontAlgn="ctr">
                        <a:buNone/>
                      </a:pPr>
                      <a:r>
                        <a:rPr lang="en-US" sz="1100" b="1" i="0" u="none" strike="noStrike">
                          <a:solidFill>
                            <a:srgbClr val="0F172A"/>
                          </a:solidFill>
                          <a:effectLst/>
                          <a:latin typeface="Arial" panose="020B0604020202020204" pitchFamily="34" charset="0"/>
                        </a:rPr>
                        <a:t>Rank</a:t>
                      </a:r>
                      <a:endParaRPr lang="en-US" sz="1100" b="0" i="0" u="none" strike="noStrike">
                        <a:effectLst/>
                        <a:latin typeface="Arial" panose="020B0604020202020204" pitchFamily="34" charset="0"/>
                      </a:endParaRPr>
                    </a:p>
                  </a:txBody>
                  <a:tcPr marL="98018" marR="98018" marT="49010" marB="49010" anchor="ctr">
                    <a:lnL>
                      <a:noFill/>
                    </a:lnL>
                    <a:lnR>
                      <a:noFill/>
                    </a:lnR>
                    <a:lnT>
                      <a:noFill/>
                    </a:lnT>
                    <a:lnB>
                      <a:noFill/>
                    </a:lnB>
                    <a:solidFill>
                      <a:srgbClr val="38BDF8"/>
                    </a:solidFill>
                  </a:tcPr>
                </a:tc>
                <a:tc>
                  <a:txBody>
                    <a:bodyPr/>
                    <a:lstStyle/>
                    <a:p>
                      <a:pPr algn="l" fontAlgn="ctr">
                        <a:buNone/>
                      </a:pPr>
                      <a:r>
                        <a:rPr lang="en-US" sz="1100" b="1" i="0" u="none" strike="noStrike">
                          <a:solidFill>
                            <a:srgbClr val="0F172A"/>
                          </a:solidFill>
                          <a:effectLst/>
                          <a:latin typeface="Arial" panose="020B0604020202020204" pitchFamily="34" charset="0"/>
                        </a:rPr>
                        <a:t>Feature</a:t>
                      </a:r>
                      <a:endParaRPr lang="en-US" sz="1100" b="0" i="0" u="none" strike="noStrike">
                        <a:effectLst/>
                        <a:latin typeface="Arial" panose="020B0604020202020204" pitchFamily="34" charset="0"/>
                      </a:endParaRPr>
                    </a:p>
                  </a:txBody>
                  <a:tcPr marL="98018" marR="98018" marT="49010" marB="49010" anchor="ctr">
                    <a:lnL>
                      <a:noFill/>
                    </a:lnL>
                    <a:lnR>
                      <a:noFill/>
                    </a:lnR>
                    <a:lnT>
                      <a:noFill/>
                    </a:lnT>
                    <a:lnB>
                      <a:noFill/>
                    </a:lnB>
                    <a:solidFill>
                      <a:srgbClr val="38BDF8"/>
                    </a:solidFill>
                  </a:tcPr>
                </a:tc>
                <a:tc>
                  <a:txBody>
                    <a:bodyPr/>
                    <a:lstStyle/>
                    <a:p>
                      <a:pPr algn="l" fontAlgn="ctr">
                        <a:buNone/>
                      </a:pPr>
                      <a:r>
                        <a:rPr lang="en-US" sz="1100" b="1" i="0" u="none" strike="noStrike">
                          <a:solidFill>
                            <a:srgbClr val="0F172A"/>
                          </a:solidFill>
                          <a:effectLst/>
                          <a:latin typeface="Arial" panose="020B0604020202020204" pitchFamily="34" charset="0"/>
                        </a:rPr>
                        <a:t>Category</a:t>
                      </a:r>
                      <a:endParaRPr lang="en-US" sz="1100" b="0" i="0" u="none" strike="noStrike">
                        <a:effectLst/>
                        <a:latin typeface="Arial" panose="020B0604020202020204" pitchFamily="34" charset="0"/>
                      </a:endParaRPr>
                    </a:p>
                  </a:txBody>
                  <a:tcPr marL="98018" marR="98018" marT="49010" marB="49010" anchor="ctr">
                    <a:lnL>
                      <a:noFill/>
                    </a:lnL>
                    <a:lnR>
                      <a:noFill/>
                    </a:lnR>
                    <a:lnT>
                      <a:noFill/>
                    </a:lnT>
                    <a:lnB>
                      <a:noFill/>
                    </a:lnB>
                    <a:solidFill>
                      <a:srgbClr val="38BDF8"/>
                    </a:solidFill>
                  </a:tcPr>
                </a:tc>
                <a:tc>
                  <a:txBody>
                    <a:bodyPr/>
                    <a:lstStyle/>
                    <a:p>
                      <a:pPr algn="l" fontAlgn="ctr">
                        <a:buNone/>
                      </a:pPr>
                      <a:r>
                        <a:rPr lang="en-US" sz="1100" b="1" i="0" u="none" strike="noStrike">
                          <a:solidFill>
                            <a:srgbClr val="0F172A"/>
                          </a:solidFill>
                          <a:effectLst/>
                          <a:latin typeface="Arial" panose="020B0604020202020204" pitchFamily="34" charset="0"/>
                        </a:rPr>
                        <a:t>F-Score</a:t>
                      </a:r>
                      <a:endParaRPr lang="en-US" sz="1100" b="0" i="0" u="none" strike="noStrike">
                        <a:effectLst/>
                        <a:latin typeface="Arial" panose="020B0604020202020204" pitchFamily="34" charset="0"/>
                      </a:endParaRPr>
                    </a:p>
                  </a:txBody>
                  <a:tcPr marL="98018" marR="98018" marT="49010" marB="49010" anchor="ctr">
                    <a:lnL>
                      <a:noFill/>
                    </a:lnL>
                    <a:lnR>
                      <a:noFill/>
                    </a:lnR>
                    <a:lnT>
                      <a:noFill/>
                    </a:lnT>
                    <a:lnB>
                      <a:noFill/>
                    </a:lnB>
                    <a:solidFill>
                      <a:srgbClr val="38BDF8"/>
                    </a:solidFill>
                  </a:tcPr>
                </a:tc>
                <a:tc>
                  <a:txBody>
                    <a:bodyPr/>
                    <a:lstStyle/>
                    <a:p>
                      <a:pPr algn="l" fontAlgn="ctr">
                        <a:buNone/>
                      </a:pPr>
                      <a:r>
                        <a:rPr lang="en-US" sz="1100" b="1" i="0" u="none" strike="noStrike">
                          <a:solidFill>
                            <a:srgbClr val="0F172A"/>
                          </a:solidFill>
                          <a:effectLst/>
                          <a:latin typeface="Arial" panose="020B0604020202020204" pitchFamily="34" charset="0"/>
                        </a:rPr>
                        <a:t>Significance</a:t>
                      </a:r>
                      <a:endParaRPr lang="en-US" sz="1100" b="0" i="0" u="none" strike="noStrike">
                        <a:effectLst/>
                        <a:latin typeface="Arial" panose="020B0604020202020204" pitchFamily="34" charset="0"/>
                      </a:endParaRPr>
                    </a:p>
                  </a:txBody>
                  <a:tcPr marL="98018" marR="98018" marT="49010" marB="49010" anchor="ctr">
                    <a:lnL>
                      <a:noFill/>
                    </a:lnL>
                    <a:lnR>
                      <a:noFill/>
                    </a:lnR>
                    <a:lnT>
                      <a:noFill/>
                    </a:lnT>
                    <a:lnB>
                      <a:noFill/>
                    </a:lnB>
                    <a:solidFill>
                      <a:srgbClr val="38BDF8"/>
                    </a:solidFill>
                  </a:tcPr>
                </a:tc>
                <a:extLst>
                  <a:ext uri="{0D108BD9-81ED-4DB2-BD59-A6C34878D82A}">
                    <a16:rowId xmlns:a16="http://schemas.microsoft.com/office/drawing/2014/main" val="1880369144"/>
                  </a:ext>
                </a:extLst>
              </a:tr>
              <a:tr h="561851">
                <a:tc>
                  <a:txBody>
                    <a:bodyPr/>
                    <a:lstStyle/>
                    <a:p>
                      <a:pPr algn="l" fontAlgn="ctr">
                        <a:buNone/>
                      </a:pPr>
                      <a:r>
                        <a:rPr lang="en-US" sz="1100" b="0" i="0" u="none" strike="noStrike">
                          <a:effectLst/>
                          <a:latin typeface="Arial" panose="020B0604020202020204" pitchFamily="34" charset="0"/>
                        </a:rPr>
                        <a:t>1</a:t>
                      </a:r>
                    </a:p>
                  </a:txBody>
                  <a:tcPr marL="98018" marR="98018" marT="49010" marB="49010" anchor="ctr">
                    <a:lnL>
                      <a:noFill/>
                    </a:lnL>
                    <a:lnR>
                      <a:noFill/>
                    </a:lnR>
                    <a:lnT>
                      <a:noFill/>
                    </a:lnT>
                    <a:lnB w="7620" cap="flat" cmpd="sng" algn="ctr">
                      <a:solidFill>
                        <a:srgbClr val="334155"/>
                      </a:solidFill>
                      <a:prstDash val="solid"/>
                      <a:round/>
                      <a:headEnd type="none" w="med" len="med"/>
                      <a:tailEnd type="none" w="med" len="med"/>
                    </a:lnB>
                    <a:noFill/>
                  </a:tcPr>
                </a:tc>
                <a:tc>
                  <a:txBody>
                    <a:bodyPr/>
                    <a:lstStyle/>
                    <a:p>
                      <a:pPr algn="l" fontAlgn="ctr">
                        <a:buNone/>
                      </a:pPr>
                      <a:r>
                        <a:rPr lang="en-US" sz="1100" b="0" i="0" u="none" strike="noStrike">
                          <a:effectLst/>
                          <a:latin typeface="Arial" panose="020B0604020202020204" pitchFamily="34" charset="0"/>
                        </a:rPr>
                        <a:t>Smoking History</a:t>
                      </a:r>
                    </a:p>
                  </a:txBody>
                  <a:tcPr marL="98018" marR="98018" marT="49010" marB="49010" anchor="ctr">
                    <a:lnL>
                      <a:noFill/>
                    </a:lnL>
                    <a:lnR>
                      <a:noFill/>
                    </a:lnR>
                    <a:lnT>
                      <a:noFill/>
                    </a:lnT>
                    <a:lnB w="7620" cap="flat" cmpd="sng" algn="ctr">
                      <a:solidFill>
                        <a:srgbClr val="334155"/>
                      </a:solidFill>
                      <a:prstDash val="solid"/>
                      <a:round/>
                      <a:headEnd type="none" w="med" len="med"/>
                      <a:tailEnd type="none" w="med" len="med"/>
                    </a:lnB>
                    <a:noFill/>
                  </a:tcPr>
                </a:tc>
                <a:tc>
                  <a:txBody>
                    <a:bodyPr/>
                    <a:lstStyle/>
                    <a:p>
                      <a:pPr algn="l" fontAlgn="ctr">
                        <a:buNone/>
                      </a:pPr>
                      <a:r>
                        <a:rPr lang="en-US" sz="1100" b="0" i="0" u="none" strike="noStrike">
                          <a:effectLst/>
                          <a:latin typeface="Arial" panose="020B0604020202020204" pitchFamily="34" charset="0"/>
                        </a:rPr>
                        <a:t>Clinical</a:t>
                      </a:r>
                    </a:p>
                  </a:txBody>
                  <a:tcPr marL="98018" marR="98018" marT="49010" marB="49010" anchor="ctr">
                    <a:lnL>
                      <a:noFill/>
                    </a:lnL>
                    <a:lnR>
                      <a:noFill/>
                    </a:lnR>
                    <a:lnT>
                      <a:noFill/>
                    </a:lnT>
                    <a:lnB w="7620" cap="flat" cmpd="sng" algn="ctr">
                      <a:solidFill>
                        <a:srgbClr val="334155"/>
                      </a:solidFill>
                      <a:prstDash val="solid"/>
                      <a:round/>
                      <a:headEnd type="none" w="med" len="med"/>
                      <a:tailEnd type="none" w="med" len="med"/>
                    </a:lnB>
                    <a:noFill/>
                  </a:tcPr>
                </a:tc>
                <a:tc>
                  <a:txBody>
                    <a:bodyPr/>
                    <a:lstStyle/>
                    <a:p>
                      <a:pPr algn="l" fontAlgn="ctr">
                        <a:buNone/>
                      </a:pPr>
                      <a:r>
                        <a:rPr lang="en-US" sz="1100" b="0" i="0" u="none" strike="noStrike" dirty="0">
                          <a:effectLst/>
                          <a:latin typeface="Arial" panose="020B0604020202020204" pitchFamily="34" charset="0"/>
                        </a:rPr>
                        <a:t>8.48</a:t>
                      </a:r>
                    </a:p>
                  </a:txBody>
                  <a:tcPr marL="98018" marR="98018" marT="49010" marB="49010" anchor="ctr">
                    <a:lnL>
                      <a:noFill/>
                    </a:lnL>
                    <a:lnR>
                      <a:noFill/>
                    </a:lnR>
                    <a:lnT>
                      <a:noFill/>
                    </a:lnT>
                    <a:lnB w="7620" cap="flat" cmpd="sng" algn="ctr">
                      <a:solidFill>
                        <a:srgbClr val="334155"/>
                      </a:solidFill>
                      <a:prstDash val="solid"/>
                      <a:round/>
                      <a:headEnd type="none" w="med" len="med"/>
                      <a:tailEnd type="none" w="med" len="med"/>
                    </a:lnB>
                    <a:noFill/>
                  </a:tcPr>
                </a:tc>
                <a:tc>
                  <a:txBody>
                    <a:bodyPr/>
                    <a:lstStyle/>
                    <a:p>
                      <a:pPr algn="l" fontAlgn="ctr">
                        <a:buNone/>
                      </a:pPr>
                      <a:r>
                        <a:rPr lang="en-US" sz="1100" b="0" i="0" u="none" strike="noStrike" dirty="0">
                          <a:solidFill>
                            <a:srgbClr val="38BDF8"/>
                          </a:solidFill>
                          <a:effectLst/>
                          <a:latin typeface="Arial" panose="020B0604020202020204" pitchFamily="34" charset="0"/>
                        </a:rPr>
                        <a:t>★★★ Highest</a:t>
                      </a:r>
                      <a:endParaRPr lang="en-US" sz="1100" b="0" i="0" u="none" strike="noStrike" dirty="0">
                        <a:effectLst/>
                        <a:latin typeface="Arial" panose="020B0604020202020204" pitchFamily="34" charset="0"/>
                      </a:endParaRPr>
                    </a:p>
                  </a:txBody>
                  <a:tcPr marL="98018" marR="98018" marT="49010" marB="49010" anchor="ctr">
                    <a:lnL>
                      <a:noFill/>
                    </a:lnL>
                    <a:lnR>
                      <a:noFill/>
                    </a:lnR>
                    <a:lnT>
                      <a:noFill/>
                    </a:lnT>
                    <a:lnB w="7620" cap="flat" cmpd="sng" algn="ctr">
                      <a:solidFill>
                        <a:srgbClr val="334155"/>
                      </a:solidFill>
                      <a:prstDash val="solid"/>
                      <a:round/>
                      <a:headEnd type="none" w="med" len="med"/>
                      <a:tailEnd type="none" w="med" len="med"/>
                    </a:lnB>
                    <a:noFill/>
                  </a:tcPr>
                </a:tc>
                <a:extLst>
                  <a:ext uri="{0D108BD9-81ED-4DB2-BD59-A6C34878D82A}">
                    <a16:rowId xmlns:a16="http://schemas.microsoft.com/office/drawing/2014/main" val="831164760"/>
                  </a:ext>
                </a:extLst>
              </a:tr>
              <a:tr h="453867">
                <a:tc>
                  <a:txBody>
                    <a:bodyPr/>
                    <a:lstStyle/>
                    <a:p>
                      <a:pPr algn="l" fontAlgn="ctr">
                        <a:buNone/>
                      </a:pPr>
                      <a:r>
                        <a:rPr lang="en-US" sz="1100" b="0" i="0" u="none" strike="noStrike">
                          <a:effectLst/>
                          <a:latin typeface="Arial" panose="020B0604020202020204" pitchFamily="34" charset="0"/>
                        </a:rPr>
                        <a:t>2</a:t>
                      </a:r>
                    </a:p>
                  </a:txBody>
                  <a:tcPr marL="98018" marR="98018" marT="49010" marB="49010"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noFill/>
                  </a:tcPr>
                </a:tc>
                <a:tc>
                  <a:txBody>
                    <a:bodyPr/>
                    <a:lstStyle/>
                    <a:p>
                      <a:pPr algn="l" fontAlgn="ctr">
                        <a:buNone/>
                      </a:pPr>
                      <a:r>
                        <a:rPr lang="en-US" sz="1100" b="0" i="0" u="none" strike="noStrike" dirty="0" err="1">
                          <a:effectLst/>
                          <a:latin typeface="Arial" panose="020B0604020202020204" pitchFamily="34" charset="0"/>
                        </a:rPr>
                        <a:t>NonSphericityIndex</a:t>
                      </a:r>
                      <a:endParaRPr lang="en-US" sz="1100" b="0" i="0" u="none" strike="noStrike" dirty="0">
                        <a:effectLst/>
                        <a:latin typeface="Arial" panose="020B0604020202020204" pitchFamily="34" charset="0"/>
                      </a:endParaRPr>
                    </a:p>
                  </a:txBody>
                  <a:tcPr marL="98018" marR="98018" marT="49010" marB="49010"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noFill/>
                  </a:tcPr>
                </a:tc>
                <a:tc>
                  <a:txBody>
                    <a:bodyPr/>
                    <a:lstStyle/>
                    <a:p>
                      <a:pPr algn="l" fontAlgn="ctr">
                        <a:buNone/>
                      </a:pPr>
                      <a:r>
                        <a:rPr lang="en-US" sz="1100" b="0" i="0" u="none" strike="noStrike">
                          <a:effectLst/>
                          <a:latin typeface="Arial" panose="020B0604020202020204" pitchFamily="34" charset="0"/>
                        </a:rPr>
                        <a:t>Geometric</a:t>
                      </a:r>
                    </a:p>
                  </a:txBody>
                  <a:tcPr marL="98018" marR="98018" marT="49010" marB="49010"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noFill/>
                  </a:tcPr>
                </a:tc>
                <a:tc>
                  <a:txBody>
                    <a:bodyPr/>
                    <a:lstStyle/>
                    <a:p>
                      <a:pPr algn="l" fontAlgn="ctr">
                        <a:buNone/>
                      </a:pPr>
                      <a:r>
                        <a:rPr lang="en-US" sz="1100" b="0" i="0" u="none" strike="noStrike" dirty="0">
                          <a:effectLst/>
                          <a:latin typeface="Arial" panose="020B0604020202020204" pitchFamily="34" charset="0"/>
                        </a:rPr>
                        <a:t>4.88</a:t>
                      </a:r>
                    </a:p>
                  </a:txBody>
                  <a:tcPr marL="98018" marR="98018" marT="49010" marB="49010"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noFill/>
                  </a:tcPr>
                </a:tc>
                <a:tc>
                  <a:txBody>
                    <a:bodyPr/>
                    <a:lstStyle/>
                    <a:p>
                      <a:pPr algn="l" fontAlgn="ctr">
                        <a:buNone/>
                      </a:pPr>
                      <a:r>
                        <a:rPr lang="en-US" sz="1100" b="0" i="0" u="none" strike="noStrike">
                          <a:solidFill>
                            <a:srgbClr val="38BDF8"/>
                          </a:solidFill>
                          <a:effectLst/>
                          <a:latin typeface="Arial" panose="020B0604020202020204" pitchFamily="34" charset="0"/>
                        </a:rPr>
                        <a:t>★★★</a:t>
                      </a:r>
                      <a:endParaRPr lang="en-US" sz="1100" b="0" i="0" u="none" strike="noStrike">
                        <a:effectLst/>
                        <a:latin typeface="Arial" panose="020B0604020202020204" pitchFamily="34" charset="0"/>
                      </a:endParaRPr>
                    </a:p>
                  </a:txBody>
                  <a:tcPr marL="98018" marR="98018" marT="49010" marB="49010"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noFill/>
                  </a:tcPr>
                </a:tc>
                <a:extLst>
                  <a:ext uri="{0D108BD9-81ED-4DB2-BD59-A6C34878D82A}">
                    <a16:rowId xmlns:a16="http://schemas.microsoft.com/office/drawing/2014/main" val="3764663952"/>
                  </a:ext>
                </a:extLst>
              </a:tr>
              <a:tr h="561851">
                <a:tc>
                  <a:txBody>
                    <a:bodyPr/>
                    <a:lstStyle/>
                    <a:p>
                      <a:pPr algn="l" fontAlgn="ctr">
                        <a:buNone/>
                      </a:pPr>
                      <a:r>
                        <a:rPr lang="en-US" sz="1100" b="0" i="0" u="none" strike="noStrike">
                          <a:effectLst/>
                          <a:latin typeface="Arial" panose="020B0604020202020204" pitchFamily="34" charset="0"/>
                        </a:rPr>
                        <a:t>3</a:t>
                      </a:r>
                    </a:p>
                  </a:txBody>
                  <a:tcPr marL="98018" marR="98018" marT="49010" marB="49010"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noFill/>
                  </a:tcPr>
                </a:tc>
                <a:tc>
                  <a:txBody>
                    <a:bodyPr/>
                    <a:lstStyle/>
                    <a:p>
                      <a:pPr algn="l" fontAlgn="ctr">
                        <a:buNone/>
                      </a:pPr>
                      <a:r>
                        <a:rPr lang="en-US" sz="1100" b="0" i="0" u="none" strike="noStrike" dirty="0">
                          <a:effectLst/>
                          <a:latin typeface="Arial" panose="020B0604020202020204" pitchFamily="34" charset="0"/>
                        </a:rPr>
                        <a:t>Mean Wall Pressure [Pa]</a:t>
                      </a:r>
                    </a:p>
                  </a:txBody>
                  <a:tcPr marL="98018" marR="98018" marT="49010" marB="49010"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noFill/>
                  </a:tcPr>
                </a:tc>
                <a:tc>
                  <a:txBody>
                    <a:bodyPr/>
                    <a:lstStyle/>
                    <a:p>
                      <a:pPr algn="l" fontAlgn="ctr">
                        <a:buNone/>
                      </a:pPr>
                      <a:r>
                        <a:rPr lang="en-US" sz="1100" b="0" i="0" u="none" strike="noStrike">
                          <a:effectLst/>
                          <a:latin typeface="Arial" panose="020B0604020202020204" pitchFamily="34" charset="0"/>
                        </a:rPr>
                        <a:t>Hemodynamic</a:t>
                      </a:r>
                    </a:p>
                  </a:txBody>
                  <a:tcPr marL="98018" marR="98018" marT="49010" marB="49010"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noFill/>
                  </a:tcPr>
                </a:tc>
                <a:tc>
                  <a:txBody>
                    <a:bodyPr/>
                    <a:lstStyle/>
                    <a:p>
                      <a:pPr algn="l" fontAlgn="ctr">
                        <a:buNone/>
                      </a:pPr>
                      <a:r>
                        <a:rPr lang="en-US" sz="1100" b="0" i="0" u="none" strike="noStrike" dirty="0">
                          <a:effectLst/>
                          <a:latin typeface="Arial" panose="020B0604020202020204" pitchFamily="34" charset="0"/>
                        </a:rPr>
                        <a:t>4.16</a:t>
                      </a:r>
                    </a:p>
                  </a:txBody>
                  <a:tcPr marL="98018" marR="98018" marT="49010" marB="49010"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noFill/>
                  </a:tcPr>
                </a:tc>
                <a:tc>
                  <a:txBody>
                    <a:bodyPr/>
                    <a:lstStyle/>
                    <a:p>
                      <a:pPr algn="l" fontAlgn="ctr">
                        <a:buNone/>
                      </a:pPr>
                      <a:r>
                        <a:rPr lang="en-US" sz="1100" b="0" i="0" u="none" strike="noStrike">
                          <a:solidFill>
                            <a:srgbClr val="38BDF8"/>
                          </a:solidFill>
                          <a:effectLst/>
                          <a:latin typeface="Arial" panose="020B0604020202020204" pitchFamily="34" charset="0"/>
                        </a:rPr>
                        <a:t>★★★</a:t>
                      </a:r>
                      <a:endParaRPr lang="en-US" sz="1100" b="0" i="0" u="none" strike="noStrike">
                        <a:effectLst/>
                        <a:latin typeface="Arial" panose="020B0604020202020204" pitchFamily="34" charset="0"/>
                      </a:endParaRPr>
                    </a:p>
                  </a:txBody>
                  <a:tcPr marL="98018" marR="98018" marT="49010" marB="49010"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noFill/>
                  </a:tcPr>
                </a:tc>
                <a:extLst>
                  <a:ext uri="{0D108BD9-81ED-4DB2-BD59-A6C34878D82A}">
                    <a16:rowId xmlns:a16="http://schemas.microsoft.com/office/drawing/2014/main" val="1309550128"/>
                  </a:ext>
                </a:extLst>
              </a:tr>
              <a:tr h="442461">
                <a:tc>
                  <a:txBody>
                    <a:bodyPr/>
                    <a:lstStyle/>
                    <a:p>
                      <a:pPr algn="l" fontAlgn="ctr">
                        <a:buNone/>
                      </a:pPr>
                      <a:r>
                        <a:rPr lang="en-US" sz="1100" b="0" i="0" u="none" strike="noStrike">
                          <a:effectLst/>
                          <a:latin typeface="Arial" panose="020B0604020202020204" pitchFamily="34" charset="0"/>
                        </a:rPr>
                        <a:t>4</a:t>
                      </a:r>
                    </a:p>
                  </a:txBody>
                  <a:tcPr marL="98018" marR="98018" marT="49010" marB="49010"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noFill/>
                  </a:tcPr>
                </a:tc>
                <a:tc>
                  <a:txBody>
                    <a:bodyPr/>
                    <a:lstStyle/>
                    <a:p>
                      <a:pPr algn="l" fontAlgn="ctr">
                        <a:buNone/>
                      </a:pPr>
                      <a:r>
                        <a:rPr lang="en-US" sz="1100" b="0" i="0" u="none" strike="noStrike">
                          <a:effectLst/>
                          <a:latin typeface="Arial" panose="020B0604020202020204" pitchFamily="34" charset="0"/>
                        </a:rPr>
                        <a:t>Aspect Ratio (AR)</a:t>
                      </a:r>
                    </a:p>
                  </a:txBody>
                  <a:tcPr marL="98018" marR="98018" marT="49010" marB="49010"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noFill/>
                  </a:tcPr>
                </a:tc>
                <a:tc>
                  <a:txBody>
                    <a:bodyPr/>
                    <a:lstStyle/>
                    <a:p>
                      <a:pPr algn="l" fontAlgn="ctr">
                        <a:buNone/>
                      </a:pPr>
                      <a:r>
                        <a:rPr lang="en-US" sz="1100" b="0" i="0" u="none" strike="noStrike">
                          <a:effectLst/>
                          <a:latin typeface="Arial" panose="020B0604020202020204" pitchFamily="34" charset="0"/>
                        </a:rPr>
                        <a:t>Geometric</a:t>
                      </a:r>
                    </a:p>
                  </a:txBody>
                  <a:tcPr marL="98018" marR="98018" marT="49010" marB="49010"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noFill/>
                  </a:tcPr>
                </a:tc>
                <a:tc>
                  <a:txBody>
                    <a:bodyPr/>
                    <a:lstStyle/>
                    <a:p>
                      <a:pPr algn="l" fontAlgn="ctr">
                        <a:buNone/>
                      </a:pPr>
                      <a:r>
                        <a:rPr lang="en-US" sz="1100" b="0" i="0" u="none" strike="noStrike" dirty="0">
                          <a:effectLst/>
                          <a:latin typeface="Arial" panose="020B0604020202020204" pitchFamily="34" charset="0"/>
                        </a:rPr>
                        <a:t>3.93</a:t>
                      </a:r>
                    </a:p>
                  </a:txBody>
                  <a:tcPr marL="98018" marR="98018" marT="49010" marB="49010"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noFill/>
                  </a:tcPr>
                </a:tc>
                <a:tc>
                  <a:txBody>
                    <a:bodyPr/>
                    <a:lstStyle/>
                    <a:p>
                      <a:pPr algn="l" fontAlgn="ctr">
                        <a:buNone/>
                      </a:pPr>
                      <a:r>
                        <a:rPr lang="en-US" sz="1100" b="0" i="0" u="none" strike="noStrike">
                          <a:solidFill>
                            <a:srgbClr val="94A3B8"/>
                          </a:solidFill>
                          <a:effectLst/>
                          <a:latin typeface="Arial" panose="020B0604020202020204" pitchFamily="34" charset="0"/>
                        </a:rPr>
                        <a:t>★★</a:t>
                      </a:r>
                      <a:endParaRPr lang="en-US" sz="1100" b="0" i="0" u="none" strike="noStrike">
                        <a:effectLst/>
                        <a:latin typeface="Arial" panose="020B0604020202020204" pitchFamily="34" charset="0"/>
                      </a:endParaRPr>
                    </a:p>
                  </a:txBody>
                  <a:tcPr marL="98018" marR="98018" marT="49010" marB="49010"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noFill/>
                  </a:tcPr>
                </a:tc>
                <a:extLst>
                  <a:ext uri="{0D108BD9-81ED-4DB2-BD59-A6C34878D82A}">
                    <a16:rowId xmlns:a16="http://schemas.microsoft.com/office/drawing/2014/main" val="241256463"/>
                  </a:ext>
                </a:extLst>
              </a:tr>
              <a:tr h="442461">
                <a:tc>
                  <a:txBody>
                    <a:bodyPr/>
                    <a:lstStyle/>
                    <a:p>
                      <a:pPr algn="l" fontAlgn="ctr">
                        <a:buNone/>
                      </a:pPr>
                      <a:r>
                        <a:rPr lang="en-US" sz="1100" b="0" i="0" u="none" strike="noStrike">
                          <a:effectLst/>
                          <a:latin typeface="Arial" panose="020B0604020202020204" pitchFamily="34" charset="0"/>
                        </a:rPr>
                        <a:t>5</a:t>
                      </a:r>
                    </a:p>
                  </a:txBody>
                  <a:tcPr marL="98018" marR="98018" marT="49010" marB="49010"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noFill/>
                  </a:tcPr>
                </a:tc>
                <a:tc>
                  <a:txBody>
                    <a:bodyPr/>
                    <a:lstStyle/>
                    <a:p>
                      <a:pPr algn="l" fontAlgn="ctr">
                        <a:buNone/>
                      </a:pPr>
                      <a:r>
                        <a:rPr lang="en-US" sz="1100" b="0" i="0" u="none" strike="noStrike">
                          <a:effectLst/>
                          <a:latin typeface="Arial" panose="020B0604020202020204" pitchFamily="34" charset="0"/>
                        </a:rPr>
                        <a:t>Undulation Index</a:t>
                      </a:r>
                    </a:p>
                  </a:txBody>
                  <a:tcPr marL="98018" marR="98018" marT="49010" marB="49010"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noFill/>
                  </a:tcPr>
                </a:tc>
                <a:tc>
                  <a:txBody>
                    <a:bodyPr/>
                    <a:lstStyle/>
                    <a:p>
                      <a:pPr algn="l" fontAlgn="ctr">
                        <a:buNone/>
                      </a:pPr>
                      <a:r>
                        <a:rPr lang="en-US" sz="1100" b="0" i="0" u="none" strike="noStrike">
                          <a:effectLst/>
                          <a:latin typeface="Arial" panose="020B0604020202020204" pitchFamily="34" charset="0"/>
                        </a:rPr>
                        <a:t>Geometric</a:t>
                      </a:r>
                    </a:p>
                  </a:txBody>
                  <a:tcPr marL="98018" marR="98018" marT="49010" marB="49010"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noFill/>
                  </a:tcPr>
                </a:tc>
                <a:tc>
                  <a:txBody>
                    <a:bodyPr/>
                    <a:lstStyle/>
                    <a:p>
                      <a:pPr algn="l" fontAlgn="ctr">
                        <a:buNone/>
                      </a:pPr>
                      <a:r>
                        <a:rPr lang="en-US" sz="1100" b="0" i="0" u="none" strike="noStrike" dirty="0">
                          <a:effectLst/>
                          <a:latin typeface="Arial" panose="020B0604020202020204" pitchFamily="34" charset="0"/>
                        </a:rPr>
                        <a:t>3.89</a:t>
                      </a:r>
                    </a:p>
                  </a:txBody>
                  <a:tcPr marL="98018" marR="98018" marT="49010" marB="49010"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noFill/>
                  </a:tcPr>
                </a:tc>
                <a:tc>
                  <a:txBody>
                    <a:bodyPr/>
                    <a:lstStyle/>
                    <a:p>
                      <a:pPr algn="l" fontAlgn="ctr">
                        <a:buNone/>
                      </a:pPr>
                      <a:r>
                        <a:rPr lang="en-US" sz="1100" b="0" i="0" u="none" strike="noStrike" dirty="0">
                          <a:solidFill>
                            <a:srgbClr val="94A3B8"/>
                          </a:solidFill>
                          <a:effectLst/>
                          <a:latin typeface="Arial" panose="020B0604020202020204" pitchFamily="34" charset="0"/>
                        </a:rPr>
                        <a:t>★★</a:t>
                      </a:r>
                      <a:endParaRPr lang="en-US" sz="1100" b="0" i="0" u="none" strike="noStrike" dirty="0">
                        <a:effectLst/>
                        <a:latin typeface="Arial" panose="020B0604020202020204" pitchFamily="34" charset="0"/>
                      </a:endParaRPr>
                    </a:p>
                  </a:txBody>
                  <a:tcPr marL="98018" marR="98018" marT="49010" marB="49010"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noFill/>
                  </a:tcPr>
                </a:tc>
                <a:extLst>
                  <a:ext uri="{0D108BD9-81ED-4DB2-BD59-A6C34878D82A}">
                    <a16:rowId xmlns:a16="http://schemas.microsoft.com/office/drawing/2014/main" val="4065819405"/>
                  </a:ext>
                </a:extLst>
              </a:tr>
            </a:tbl>
          </a:graphicData>
        </a:graphic>
      </p:graphicFrame>
      <p:pic>
        <p:nvPicPr>
          <p:cNvPr id="10" name="Picture 9">
            <a:extLst>
              <a:ext uri="{FF2B5EF4-FFF2-40B4-BE49-F238E27FC236}">
                <a16:creationId xmlns:a16="http://schemas.microsoft.com/office/drawing/2014/main" id="{F2B72557-18DE-1D99-A105-B7A9635F798F}"/>
              </a:ext>
            </a:extLst>
          </p:cNvPr>
          <p:cNvPicPr>
            <a:picLocks noChangeAspect="1"/>
          </p:cNvPicPr>
          <p:nvPr/>
        </p:nvPicPr>
        <p:blipFill>
          <a:blip r:embed="rId3"/>
          <a:stretch>
            <a:fillRect/>
          </a:stretch>
        </p:blipFill>
        <p:spPr>
          <a:xfrm>
            <a:off x="4159920" y="1556730"/>
            <a:ext cx="4969696" cy="284246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 y="3280915"/>
            <a:ext cx="9144005" cy="1862583"/>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105491" y="3280915"/>
            <a:ext cx="3038508" cy="1862585"/>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3284571"/>
            <a:ext cx="9143988" cy="1465446"/>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 y="3285695"/>
            <a:ext cx="9144000" cy="1514582"/>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1"/>
          <p:cNvSpPr/>
          <p:nvPr/>
        </p:nvSpPr>
        <p:spPr>
          <a:xfrm>
            <a:off x="523199" y="3238698"/>
            <a:ext cx="7663201" cy="1177334"/>
          </a:xfrm>
          <a:prstGeom prst="rect">
            <a:avLst/>
          </a:prstGeom>
        </p:spPr>
        <p:txBody>
          <a:bodyPr vert="horz" lIns="91440" tIns="45720" rIns="91440" bIns="45720" rtlCol="0" anchor="ctr">
            <a:normAutofit/>
          </a:bodyPr>
          <a:lstStyle/>
          <a:p>
            <a:pPr>
              <a:lnSpc>
                <a:spcPct val="90000"/>
              </a:lnSpc>
              <a:spcBef>
                <a:spcPts val="1000"/>
              </a:spcBef>
            </a:pPr>
            <a:r>
              <a:rPr lang="en-US" sz="2800" dirty="0">
                <a:solidFill>
                  <a:schemeClr val="accent1">
                    <a:lumMod val="20000"/>
                    <a:lumOff val="80000"/>
                  </a:schemeClr>
                </a:solidFill>
              </a:rPr>
              <a:t>What does these top features mean?</a:t>
            </a:r>
            <a:endParaRPr lang="en-US" sz="2800" kern="1200" dirty="0">
              <a:solidFill>
                <a:schemeClr val="accent1">
                  <a:lumMod val="20000"/>
                  <a:lumOff val="80000"/>
                </a:schemeClr>
              </a:solidFill>
              <a:latin typeface="+mn-lt"/>
              <a:ea typeface="+mn-ea"/>
              <a:cs typeface="+mn-cs"/>
            </a:endParaRPr>
          </a:p>
        </p:txBody>
      </p:sp>
      <p:sp>
        <p:nvSpPr>
          <p:cNvPr id="4" name="Text 2"/>
          <p:cNvSpPr/>
          <p:nvPr/>
        </p:nvSpPr>
        <p:spPr>
          <a:xfrm>
            <a:off x="609600" y="1508761"/>
            <a:ext cx="8083296" cy="213360"/>
          </a:xfrm>
          <a:prstGeom prst="rect">
            <a:avLst/>
          </a:prstGeom>
          <a:noFill/>
          <a:ln/>
        </p:spPr>
        <p:txBody>
          <a:bodyPr wrap="square" lIns="0" tIns="0" rIns="0" bIns="0" rtlCol="0" anchor="t"/>
          <a:lstStyle/>
          <a:p>
            <a:pPr marL="0" indent="0">
              <a:lnSpc>
                <a:spcPts val="2240"/>
              </a:lnSpc>
              <a:spcAft>
                <a:spcPts val="600"/>
              </a:spcAft>
              <a:buNone/>
            </a:pPr>
            <a:r>
              <a:rPr lang="en-US" sz="1200" b="1" dirty="0" err="1">
                <a:solidFill>
                  <a:schemeClr val="accent5">
                    <a:lumMod val="75000"/>
                  </a:schemeClr>
                </a:solidFill>
                <a:latin typeface="Arial" pitchFamily="34" charset="0"/>
                <a:ea typeface="Arial" pitchFamily="34" charset="-122"/>
                <a:cs typeface="Arial" pitchFamily="34" charset="-120"/>
              </a:rPr>
              <a:t>NonSphericityIndex</a:t>
            </a:r>
            <a:r>
              <a:rPr lang="en-US" sz="1200" b="1" dirty="0">
                <a:solidFill>
                  <a:schemeClr val="accent5">
                    <a:lumMod val="75000"/>
                  </a:schemeClr>
                </a:solidFill>
                <a:latin typeface="Arial" pitchFamily="34" charset="0"/>
                <a:ea typeface="Arial" pitchFamily="34" charset="-122"/>
                <a:cs typeface="Arial" pitchFamily="34" charset="-120"/>
              </a:rPr>
              <a:t>:</a:t>
            </a:r>
            <a:r>
              <a:rPr lang="en-US" sz="1200" dirty="0">
                <a:solidFill>
                  <a:schemeClr val="accent5">
                    <a:lumMod val="75000"/>
                  </a:schemeClr>
                </a:solidFill>
                <a:latin typeface="Arial" pitchFamily="34" charset="0"/>
                <a:ea typeface="Arial" pitchFamily="34" charset="-122"/>
                <a:cs typeface="Arial" pitchFamily="34" charset="-120"/>
              </a:rPr>
              <a:t> Irregular shapes are unstable; high NSI = rupture risk</a:t>
            </a:r>
            <a:endParaRPr lang="en-US" sz="1200" dirty="0">
              <a:solidFill>
                <a:schemeClr val="accent5">
                  <a:lumMod val="75000"/>
                </a:schemeClr>
              </a:solidFill>
            </a:endParaRPr>
          </a:p>
        </p:txBody>
      </p:sp>
      <p:sp>
        <p:nvSpPr>
          <p:cNvPr id="5" name="Text 3"/>
          <p:cNvSpPr/>
          <p:nvPr/>
        </p:nvSpPr>
        <p:spPr>
          <a:xfrm>
            <a:off x="609600" y="1844041"/>
            <a:ext cx="8083296" cy="213360"/>
          </a:xfrm>
          <a:prstGeom prst="rect">
            <a:avLst/>
          </a:prstGeom>
          <a:noFill/>
          <a:ln/>
        </p:spPr>
        <p:txBody>
          <a:bodyPr wrap="square" lIns="0" tIns="0" rIns="0" bIns="0" rtlCol="0" anchor="t"/>
          <a:lstStyle/>
          <a:p>
            <a:pPr marL="0" indent="0">
              <a:lnSpc>
                <a:spcPts val="2240"/>
              </a:lnSpc>
              <a:spcAft>
                <a:spcPts val="600"/>
              </a:spcAft>
              <a:buNone/>
            </a:pPr>
            <a:r>
              <a:rPr lang="en-US" sz="1200" b="1" dirty="0">
                <a:solidFill>
                  <a:schemeClr val="accent5">
                    <a:lumMod val="75000"/>
                  </a:schemeClr>
                </a:solidFill>
                <a:latin typeface="Arial" pitchFamily="34" charset="0"/>
                <a:ea typeface="Arial" pitchFamily="34" charset="-122"/>
                <a:cs typeface="Arial" pitchFamily="34" charset="-120"/>
              </a:rPr>
              <a:t>Mean Wall Pressure:</a:t>
            </a:r>
            <a:r>
              <a:rPr lang="en-US" sz="1200" dirty="0">
                <a:solidFill>
                  <a:schemeClr val="accent5">
                    <a:lumMod val="75000"/>
                  </a:schemeClr>
                </a:solidFill>
                <a:latin typeface="Arial" pitchFamily="34" charset="0"/>
                <a:ea typeface="Arial" pitchFamily="34" charset="-122"/>
                <a:cs typeface="Arial" pitchFamily="34" charset="-120"/>
              </a:rPr>
              <a:t> Elevated pressure stresses aneurysm wall; linked to rupture</a:t>
            </a:r>
            <a:endParaRPr lang="en-US" sz="1200" dirty="0">
              <a:solidFill>
                <a:schemeClr val="accent5">
                  <a:lumMod val="75000"/>
                </a:schemeClr>
              </a:solidFill>
            </a:endParaRPr>
          </a:p>
        </p:txBody>
      </p:sp>
      <p:sp>
        <p:nvSpPr>
          <p:cNvPr id="6" name="Text 4"/>
          <p:cNvSpPr/>
          <p:nvPr/>
        </p:nvSpPr>
        <p:spPr>
          <a:xfrm>
            <a:off x="609600" y="2179323"/>
            <a:ext cx="8083296" cy="213360"/>
          </a:xfrm>
          <a:prstGeom prst="rect">
            <a:avLst/>
          </a:prstGeom>
          <a:noFill/>
          <a:ln/>
        </p:spPr>
        <p:txBody>
          <a:bodyPr wrap="square" lIns="0" tIns="0" rIns="0" bIns="0" rtlCol="0" anchor="t"/>
          <a:lstStyle/>
          <a:p>
            <a:pPr marL="0" indent="0">
              <a:lnSpc>
                <a:spcPts val="2240"/>
              </a:lnSpc>
              <a:spcAft>
                <a:spcPts val="600"/>
              </a:spcAft>
              <a:buNone/>
            </a:pPr>
            <a:r>
              <a:rPr lang="en-US" sz="1200" b="1" dirty="0">
                <a:solidFill>
                  <a:schemeClr val="accent5">
                    <a:lumMod val="75000"/>
                  </a:schemeClr>
                </a:solidFill>
                <a:latin typeface="Arial" pitchFamily="34" charset="0"/>
                <a:ea typeface="Arial" pitchFamily="34" charset="-122"/>
                <a:cs typeface="Arial" pitchFamily="34" charset="-120"/>
              </a:rPr>
              <a:t>Aspect Ratio:</a:t>
            </a:r>
            <a:r>
              <a:rPr lang="en-US" sz="1200" dirty="0">
                <a:solidFill>
                  <a:schemeClr val="accent5">
                    <a:lumMod val="75000"/>
                  </a:schemeClr>
                </a:solidFill>
                <a:latin typeface="Arial" pitchFamily="34" charset="0"/>
                <a:ea typeface="Arial" pitchFamily="34" charset="-122"/>
                <a:cs typeface="Arial" pitchFamily="34" charset="-120"/>
              </a:rPr>
              <a:t> Height-to-width ratio; taller aneurysms more unstable</a:t>
            </a:r>
            <a:endParaRPr lang="en-US" sz="1200" dirty="0">
              <a:solidFill>
                <a:schemeClr val="accent5">
                  <a:lumMod val="75000"/>
                </a:schemeClr>
              </a:solidFill>
            </a:endParaRPr>
          </a:p>
        </p:txBody>
      </p:sp>
      <p:sp>
        <p:nvSpPr>
          <p:cNvPr id="7" name="Text 5"/>
          <p:cNvSpPr/>
          <p:nvPr/>
        </p:nvSpPr>
        <p:spPr>
          <a:xfrm>
            <a:off x="609600" y="2519043"/>
            <a:ext cx="8083296" cy="213360"/>
          </a:xfrm>
          <a:prstGeom prst="rect">
            <a:avLst/>
          </a:prstGeom>
          <a:noFill/>
          <a:ln/>
        </p:spPr>
        <p:txBody>
          <a:bodyPr wrap="square" lIns="0" tIns="0" rIns="0" bIns="0" rtlCol="0" anchor="t"/>
          <a:lstStyle/>
          <a:p>
            <a:pPr marL="0" indent="0">
              <a:lnSpc>
                <a:spcPts val="2240"/>
              </a:lnSpc>
              <a:spcAft>
                <a:spcPts val="600"/>
              </a:spcAft>
              <a:buNone/>
            </a:pPr>
            <a:r>
              <a:rPr lang="en-US" sz="1200" b="1" dirty="0">
                <a:solidFill>
                  <a:schemeClr val="accent5">
                    <a:lumMod val="75000"/>
                  </a:schemeClr>
                </a:solidFill>
                <a:latin typeface="Arial" pitchFamily="34" charset="0"/>
                <a:ea typeface="Arial" pitchFamily="34" charset="-122"/>
                <a:cs typeface="Arial" pitchFamily="34" charset="-120"/>
              </a:rPr>
              <a:t>Undulation Index:</a:t>
            </a:r>
            <a:r>
              <a:rPr lang="en-US" sz="1200" dirty="0">
                <a:solidFill>
                  <a:schemeClr val="accent5">
                    <a:lumMod val="75000"/>
                  </a:schemeClr>
                </a:solidFill>
                <a:latin typeface="Arial" pitchFamily="34" charset="0"/>
                <a:ea typeface="Arial" pitchFamily="34" charset="-122"/>
                <a:cs typeface="Arial" pitchFamily="34" charset="-120"/>
              </a:rPr>
              <a:t> Surface irregularity; wavy surfaces = higher rupture risk</a:t>
            </a:r>
            <a:endParaRPr lang="en-US" sz="1200" dirty="0">
              <a:solidFill>
                <a:schemeClr val="accent5">
                  <a:lumMod val="75000"/>
                </a:schemeClr>
              </a:solidFill>
            </a:endParaRPr>
          </a:p>
        </p:txBody>
      </p:sp>
      <p:sp>
        <p:nvSpPr>
          <p:cNvPr id="2" name="Text 5">
            <a:extLst>
              <a:ext uri="{FF2B5EF4-FFF2-40B4-BE49-F238E27FC236}">
                <a16:creationId xmlns:a16="http://schemas.microsoft.com/office/drawing/2014/main" id="{F11AC1CF-FE79-D67F-A0C1-3733BD02A7C5}"/>
              </a:ext>
            </a:extLst>
          </p:cNvPr>
          <p:cNvSpPr/>
          <p:nvPr/>
        </p:nvSpPr>
        <p:spPr>
          <a:xfrm>
            <a:off x="609600" y="2843842"/>
            <a:ext cx="8083296" cy="213360"/>
          </a:xfrm>
          <a:prstGeom prst="rect">
            <a:avLst/>
          </a:prstGeom>
          <a:noFill/>
          <a:ln/>
        </p:spPr>
        <p:txBody>
          <a:bodyPr wrap="square" lIns="0" tIns="0" rIns="0" bIns="0" rtlCol="0" anchor="t"/>
          <a:lstStyle/>
          <a:p>
            <a:pPr>
              <a:lnSpc>
                <a:spcPct val="90000"/>
              </a:lnSpc>
              <a:spcBef>
                <a:spcPts val="1000"/>
              </a:spcBef>
            </a:pPr>
            <a:r>
              <a:rPr lang="en-US" sz="1200" b="1" dirty="0">
                <a:solidFill>
                  <a:schemeClr val="accent5">
                    <a:lumMod val="75000"/>
                  </a:schemeClr>
                </a:solidFill>
                <a:latin typeface="Arial" panose="020B0604020202020204" pitchFamily="34" charset="0"/>
                <a:cs typeface="Arial" panose="020B0604020202020204" pitchFamily="34" charset="0"/>
              </a:rPr>
              <a:t>Smoking:</a:t>
            </a:r>
            <a:r>
              <a:rPr lang="en-US" sz="1200" dirty="0">
                <a:solidFill>
                  <a:schemeClr val="accent5">
                    <a:lumMod val="75000"/>
                  </a:schemeClr>
                </a:solidFill>
                <a:latin typeface="Arial" panose="020B0604020202020204" pitchFamily="34" charset="0"/>
                <a:cs typeface="Arial" panose="020B0604020202020204" pitchFamily="34" charset="0"/>
              </a:rPr>
              <a:t> Major rupture risk factor; weakens vessel wall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17019"/>
            <a:ext cx="9143998" cy="3280596"/>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31539" y="-2948881"/>
            <a:ext cx="3280918"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102522" y="-2777901"/>
            <a:ext cx="3280596"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17017"/>
            <a:ext cx="6406863" cy="3280594"/>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774039"/>
            <a:ext cx="3742610" cy="3329347"/>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 0"/>
          <p:cNvSpPr/>
          <p:nvPr/>
        </p:nvSpPr>
        <p:spPr>
          <a:xfrm>
            <a:off x="609598" y="143398"/>
            <a:ext cx="7504461" cy="1504891"/>
          </a:xfrm>
          <a:prstGeom prst="rect">
            <a:avLst/>
          </a:prstGeom>
        </p:spPr>
        <p:txBody>
          <a:bodyPr vert="horz" lIns="91440" tIns="45720" rIns="91440" bIns="45720" rtlCol="0" anchor="b">
            <a:normAutofit/>
          </a:bodyPr>
          <a:lstStyle/>
          <a:p>
            <a:pPr marL="0" indent="0">
              <a:lnSpc>
                <a:spcPct val="90000"/>
              </a:lnSpc>
              <a:spcBef>
                <a:spcPct val="0"/>
              </a:spcBef>
              <a:spcAft>
                <a:spcPts val="600"/>
              </a:spcAft>
            </a:pPr>
            <a:r>
              <a:rPr lang="en-US" sz="3600" b="1" kern="1200" dirty="0">
                <a:solidFill>
                  <a:srgbClr val="FFFFFF"/>
                </a:solidFill>
                <a:latin typeface="+mj-lt"/>
                <a:ea typeface="+mj-ea"/>
                <a:cs typeface="+mj-cs"/>
              </a:rPr>
              <a:t>Smart Outlier Handling Strategy</a:t>
            </a:r>
            <a:endParaRPr lang="en-US" sz="3600" kern="1200" dirty="0">
              <a:solidFill>
                <a:srgbClr val="FFFFFF"/>
              </a:solidFill>
              <a:latin typeface="+mj-lt"/>
              <a:ea typeface="+mj-ea"/>
              <a:cs typeface="+mj-cs"/>
            </a:endParaRPr>
          </a:p>
        </p:txBody>
      </p:sp>
      <p:sp>
        <p:nvSpPr>
          <p:cNvPr id="3" name="Text 1"/>
          <p:cNvSpPr/>
          <p:nvPr/>
        </p:nvSpPr>
        <p:spPr>
          <a:xfrm>
            <a:off x="609596" y="1900415"/>
            <a:ext cx="7504463" cy="1093693"/>
          </a:xfrm>
          <a:prstGeom prst="rect">
            <a:avLst/>
          </a:prstGeom>
        </p:spPr>
        <p:txBody>
          <a:bodyPr vert="horz" lIns="91440" tIns="45720" rIns="91440" bIns="45720" rtlCol="0" anchor="ctr">
            <a:normAutofit/>
          </a:bodyPr>
          <a:lstStyle/>
          <a:p>
            <a:pPr>
              <a:lnSpc>
                <a:spcPct val="90000"/>
              </a:lnSpc>
              <a:spcBef>
                <a:spcPts val="1000"/>
              </a:spcBef>
            </a:pPr>
            <a:r>
              <a:rPr lang="en-US" sz="2400" b="1" kern="1200" dirty="0">
                <a:solidFill>
                  <a:schemeClr val="accent5">
                    <a:lumMod val="40000"/>
                    <a:lumOff val="60000"/>
                  </a:schemeClr>
                </a:solidFill>
                <a:latin typeface="+mn-lt"/>
                <a:ea typeface="+mn-ea"/>
                <a:cs typeface="+mn-cs"/>
              </a:rPr>
              <a:t>Challenge:</a:t>
            </a:r>
            <a:r>
              <a:rPr lang="en-US" sz="2400" kern="1200" dirty="0">
                <a:solidFill>
                  <a:schemeClr val="accent5">
                    <a:lumMod val="40000"/>
                    <a:lumOff val="60000"/>
                  </a:schemeClr>
                </a:solidFill>
                <a:latin typeface="+mn-lt"/>
                <a:ea typeface="+mn-ea"/>
                <a:cs typeface="+mn-cs"/>
              </a:rPr>
              <a:t> Extreme volume outliers (1.94 to 2271.75 mm³)</a:t>
            </a:r>
          </a:p>
        </p:txBody>
      </p:sp>
      <p:sp>
        <p:nvSpPr>
          <p:cNvPr id="4" name="Text 2"/>
          <p:cNvSpPr/>
          <p:nvPr/>
        </p:nvSpPr>
        <p:spPr>
          <a:xfrm>
            <a:off x="784860" y="3484075"/>
            <a:ext cx="8083296" cy="213360"/>
          </a:xfrm>
          <a:prstGeom prst="rect">
            <a:avLst/>
          </a:prstGeom>
          <a:noFill/>
          <a:ln/>
        </p:spPr>
        <p:txBody>
          <a:bodyPr wrap="square" lIns="0" tIns="0" rIns="0" bIns="0" rtlCol="0" anchor="t"/>
          <a:lstStyle/>
          <a:p>
            <a:pPr marL="0" indent="0">
              <a:lnSpc>
                <a:spcPts val="2240"/>
              </a:lnSpc>
              <a:spcAft>
                <a:spcPts val="600"/>
              </a:spcAft>
              <a:buNone/>
            </a:pPr>
            <a:r>
              <a:rPr lang="en-US" sz="1200" b="1" dirty="0">
                <a:solidFill>
                  <a:schemeClr val="accent5">
                    <a:lumMod val="75000"/>
                  </a:schemeClr>
                </a:solidFill>
                <a:latin typeface="Arial" pitchFamily="34" charset="0"/>
                <a:ea typeface="Arial" pitchFamily="34" charset="-122"/>
                <a:cs typeface="Arial" pitchFamily="34" charset="-120"/>
              </a:rPr>
              <a:t>Decision:</a:t>
            </a:r>
            <a:r>
              <a:rPr lang="en-US" sz="1200" dirty="0">
                <a:solidFill>
                  <a:schemeClr val="accent5">
                    <a:lumMod val="75000"/>
                  </a:schemeClr>
                </a:solidFill>
                <a:latin typeface="Arial" pitchFamily="34" charset="0"/>
                <a:ea typeface="Arial" pitchFamily="34" charset="-122"/>
                <a:cs typeface="Arial" pitchFamily="34" charset="-120"/>
              </a:rPr>
              <a:t> Preserve outliers (clinically important rare cases)</a:t>
            </a:r>
            <a:endParaRPr lang="en-US" sz="1200" dirty="0">
              <a:solidFill>
                <a:schemeClr val="accent5">
                  <a:lumMod val="75000"/>
                </a:schemeClr>
              </a:solidFill>
            </a:endParaRPr>
          </a:p>
        </p:txBody>
      </p:sp>
      <p:sp>
        <p:nvSpPr>
          <p:cNvPr id="5" name="Text 3"/>
          <p:cNvSpPr/>
          <p:nvPr/>
        </p:nvSpPr>
        <p:spPr>
          <a:xfrm>
            <a:off x="1016508" y="3962339"/>
            <a:ext cx="7620000" cy="731520"/>
          </a:xfrm>
          <a:prstGeom prst="rect">
            <a:avLst/>
          </a:prstGeom>
          <a:noFill/>
          <a:ln/>
        </p:spPr>
        <p:txBody>
          <a:bodyPr wrap="square" lIns="0" tIns="0" rIns="0" bIns="0" rtlCol="0" anchor="t"/>
          <a:lstStyle/>
          <a:p>
            <a:pPr marL="342900" indent="-342900">
              <a:lnSpc>
                <a:spcPts val="3240"/>
              </a:lnSpc>
              <a:spcAft>
                <a:spcPts val="600"/>
              </a:spcAft>
              <a:buSzPct val="100000"/>
              <a:buChar char="•"/>
            </a:pPr>
            <a:r>
              <a:rPr lang="en-US" sz="1350" b="1" dirty="0">
                <a:solidFill>
                  <a:schemeClr val="accent5">
                    <a:lumMod val="75000"/>
                  </a:schemeClr>
                </a:solidFill>
                <a:latin typeface="Arial" pitchFamily="34" charset="0"/>
                <a:ea typeface="Arial" pitchFamily="34" charset="-122"/>
                <a:cs typeface="Arial" pitchFamily="34" charset="-120"/>
              </a:rPr>
              <a:t>StandardScaler:</a:t>
            </a:r>
            <a:r>
              <a:rPr lang="en-US" sz="1350" dirty="0">
                <a:solidFill>
                  <a:schemeClr val="accent5">
                    <a:lumMod val="75000"/>
                  </a:schemeClr>
                </a:solidFill>
                <a:latin typeface="Arial" pitchFamily="34" charset="0"/>
                <a:ea typeface="Arial" pitchFamily="34" charset="-122"/>
                <a:cs typeface="Arial" pitchFamily="34" charset="-120"/>
              </a:rPr>
              <a:t> Normalizes features to common scale; prevents dominance</a:t>
            </a:r>
            <a:endParaRPr lang="en-US" sz="1350" dirty="0">
              <a:solidFill>
                <a:schemeClr val="accent5">
                  <a:lumMod val="75000"/>
                </a:schemeClr>
              </a:solidFill>
            </a:endParaRPr>
          </a:p>
          <a:p>
            <a:pPr marL="342900" indent="-342900">
              <a:lnSpc>
                <a:spcPts val="3240"/>
              </a:lnSpc>
              <a:spcAft>
                <a:spcPts val="600"/>
              </a:spcAft>
              <a:buSzPct val="100000"/>
              <a:buChar char="•"/>
            </a:pPr>
            <a:r>
              <a:rPr lang="en-US" sz="1350" b="1" dirty="0">
                <a:solidFill>
                  <a:schemeClr val="accent5">
                    <a:lumMod val="75000"/>
                  </a:schemeClr>
                </a:solidFill>
                <a:latin typeface="Arial" pitchFamily="34" charset="0"/>
                <a:ea typeface="Arial" pitchFamily="34" charset="-122"/>
                <a:cs typeface="Arial" pitchFamily="34" charset="-120"/>
              </a:rPr>
              <a:t>XGBoost:</a:t>
            </a:r>
            <a:r>
              <a:rPr lang="en-US" sz="1350" dirty="0">
                <a:solidFill>
                  <a:schemeClr val="accent5">
                    <a:lumMod val="75000"/>
                  </a:schemeClr>
                </a:solidFill>
                <a:latin typeface="Arial" pitchFamily="34" charset="0"/>
                <a:ea typeface="Arial" pitchFamily="34" charset="-122"/>
                <a:cs typeface="Arial" pitchFamily="34" charset="-120"/>
              </a:rPr>
              <a:t> Tree-based model inherently robust to outliers</a:t>
            </a:r>
            <a:endParaRPr lang="en-US" sz="1350" dirty="0">
              <a:solidFill>
                <a:schemeClr val="accent5">
                  <a:lumMod val="75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249682"/>
            <a:ext cx="3328800" cy="1392196"/>
          </a:xfrm>
          <a:prstGeom prst="rect">
            <a:avLst/>
          </a:prstGeom>
          <a:solidFill>
            <a:srgbClr val="1E293B"/>
          </a:solidFill>
          <a:ln/>
          <a:effectLst>
            <a:outerShdw blurRad="152400" dist="76200" dir="5400000" algn="bl" rotWithShape="0">
              <a:srgbClr val="000000">
                <a:alpha val="30000"/>
              </a:srgbClr>
            </a:outerShdw>
          </a:effectLst>
        </p:spPr>
        <p:txBody>
          <a:bodyPr wrap="none" lIns="0" tIns="0" rIns="0" bIns="0" rtlCol="0" anchor="ctr">
            <a:normAutofit/>
          </a:bodyPr>
          <a:lstStyle/>
          <a:p>
            <a:pPr marL="0" indent="0">
              <a:buNone/>
            </a:pPr>
            <a:endParaRPr lang="en-US" dirty="0"/>
          </a:p>
        </p:txBody>
      </p:sp>
      <p:sp>
        <p:nvSpPr>
          <p:cNvPr id="3" name="Text 1"/>
          <p:cNvSpPr/>
          <p:nvPr/>
        </p:nvSpPr>
        <p:spPr>
          <a:xfrm>
            <a:off x="609600" y="2823209"/>
            <a:ext cx="2558400" cy="1124074"/>
          </a:xfrm>
          <a:prstGeom prst="rect">
            <a:avLst/>
          </a:prstGeom>
          <a:solidFill>
            <a:srgbClr val="1E293B"/>
          </a:solidFill>
          <a:ln/>
          <a:effectLst>
            <a:outerShdw blurRad="152400" dist="76200" dir="5400000" algn="bl" rotWithShape="0">
              <a:srgbClr val="000000">
                <a:alpha val="30000"/>
              </a:srgbClr>
            </a:outerShdw>
          </a:effectLst>
        </p:spPr>
        <p:txBody>
          <a:bodyPr wrap="none" lIns="0" tIns="0" rIns="0" bIns="0" rtlCol="0" anchor="ctr">
            <a:normAutofit/>
          </a:bodyPr>
          <a:lstStyle/>
          <a:p>
            <a:pPr marL="0" indent="0">
              <a:buNone/>
            </a:pPr>
            <a:endParaRPr lang="en-US" dirty="0"/>
          </a:p>
        </p:txBody>
      </p:sp>
      <p:sp>
        <p:nvSpPr>
          <p:cNvPr id="4" name="Text 2"/>
          <p:cNvSpPr/>
          <p:nvPr/>
        </p:nvSpPr>
        <p:spPr>
          <a:xfrm>
            <a:off x="609600" y="609600"/>
            <a:ext cx="8083296" cy="411480"/>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Trial 1: Baseline Logistic Regression</a:t>
            </a:r>
            <a:endParaRPr lang="en-US" sz="2700" dirty="0"/>
          </a:p>
        </p:txBody>
      </p:sp>
      <p:sp>
        <p:nvSpPr>
          <p:cNvPr id="5" name="Text 3"/>
          <p:cNvSpPr/>
          <p:nvPr/>
        </p:nvSpPr>
        <p:spPr>
          <a:xfrm>
            <a:off x="838200" y="1478282"/>
            <a:ext cx="7616952" cy="274320"/>
          </a:xfrm>
          <a:prstGeom prst="rect">
            <a:avLst/>
          </a:prstGeom>
          <a:noFill/>
          <a:ln/>
        </p:spPr>
        <p:txBody>
          <a:bodyPr wrap="square" lIns="0" tIns="0" rIns="0" bIns="0" rtlCol="0" anchor="t"/>
          <a:lstStyle/>
          <a:p>
            <a:pPr marL="0" indent="0">
              <a:lnSpc>
                <a:spcPts val="2880"/>
              </a:lnSpc>
              <a:buNone/>
            </a:pPr>
            <a:r>
              <a:rPr lang="en-US" sz="1800" b="1" dirty="0">
                <a:solidFill>
                  <a:srgbClr val="38BDF8"/>
                </a:solidFill>
                <a:latin typeface="Arial" pitchFamily="34" charset="0"/>
                <a:ea typeface="Arial" pitchFamily="34" charset="-122"/>
                <a:cs typeface="Arial" pitchFamily="34" charset="-120"/>
              </a:rPr>
              <a:t>Attempt 1a (Top 10)</a:t>
            </a:r>
            <a:endParaRPr lang="en-US" sz="1800" dirty="0"/>
          </a:p>
        </p:txBody>
      </p:sp>
      <p:sp>
        <p:nvSpPr>
          <p:cNvPr id="6" name="Text 4"/>
          <p:cNvSpPr/>
          <p:nvPr/>
        </p:nvSpPr>
        <p:spPr>
          <a:xfrm>
            <a:off x="838200" y="1752600"/>
            <a:ext cx="7616952" cy="191929"/>
          </a:xfrm>
          <a:prstGeom prst="rect">
            <a:avLst/>
          </a:prstGeom>
          <a:noFill/>
          <a:ln/>
        </p:spPr>
        <p:txBody>
          <a:bodyPr wrap="square" lIns="0" tIns="0" rIns="0" bIns="0" rtlCol="0" anchor="t"/>
          <a:lstStyle/>
          <a:p>
            <a:pPr marL="0" indent="0">
              <a:lnSpc>
                <a:spcPts val="2016"/>
              </a:lnSpc>
              <a:buNone/>
            </a:pPr>
            <a:r>
              <a:rPr lang="en-US" sz="1080" dirty="0">
                <a:solidFill>
                  <a:srgbClr val="CBD5E1"/>
                </a:solidFill>
                <a:latin typeface="Arial" pitchFamily="34" charset="0"/>
                <a:ea typeface="Arial" pitchFamily="34" charset="-122"/>
                <a:cs typeface="Arial" pitchFamily="34" charset="-120"/>
              </a:rPr>
              <a:t>ROC AUC: 0.51 | Recall: 56%</a:t>
            </a:r>
            <a:endParaRPr lang="en-US" sz="1080" dirty="0"/>
          </a:p>
        </p:txBody>
      </p:sp>
      <p:sp>
        <p:nvSpPr>
          <p:cNvPr id="7" name="Text 5"/>
          <p:cNvSpPr/>
          <p:nvPr/>
        </p:nvSpPr>
        <p:spPr>
          <a:xfrm>
            <a:off x="838200" y="1944528"/>
            <a:ext cx="7616952" cy="181332"/>
          </a:xfrm>
          <a:prstGeom prst="rect">
            <a:avLst/>
          </a:prstGeom>
          <a:noFill/>
          <a:ln/>
        </p:spPr>
        <p:txBody>
          <a:bodyPr wrap="square" lIns="0" tIns="0" rIns="0" bIns="0" rtlCol="0" anchor="t"/>
          <a:lstStyle/>
          <a:p>
            <a:pPr marL="0" indent="0">
              <a:lnSpc>
                <a:spcPts val="1904"/>
              </a:lnSpc>
              <a:buNone/>
            </a:pPr>
            <a:r>
              <a:rPr lang="en-US" sz="1020" dirty="0">
                <a:solidFill>
                  <a:srgbClr val="94A3B8"/>
                </a:solidFill>
                <a:latin typeface="Arial" pitchFamily="34" charset="0"/>
                <a:ea typeface="Arial" pitchFamily="34" charset="-122"/>
                <a:cs typeface="Arial" pitchFamily="34" charset="-120"/>
              </a:rPr>
              <a:t> Random performance; too many noisy features</a:t>
            </a:r>
            <a:endParaRPr lang="en-US" sz="1020" dirty="0"/>
          </a:p>
        </p:txBody>
      </p:sp>
      <p:sp>
        <p:nvSpPr>
          <p:cNvPr id="8" name="Text 6"/>
          <p:cNvSpPr/>
          <p:nvPr/>
        </p:nvSpPr>
        <p:spPr>
          <a:xfrm>
            <a:off x="838200" y="3051809"/>
            <a:ext cx="7616952" cy="274320"/>
          </a:xfrm>
          <a:prstGeom prst="rect">
            <a:avLst/>
          </a:prstGeom>
          <a:noFill/>
          <a:ln/>
        </p:spPr>
        <p:txBody>
          <a:bodyPr wrap="square" lIns="0" tIns="0" rIns="0" bIns="0" rtlCol="0" anchor="t"/>
          <a:lstStyle/>
          <a:p>
            <a:pPr marL="0" indent="0">
              <a:lnSpc>
                <a:spcPts val="2880"/>
              </a:lnSpc>
              <a:buNone/>
            </a:pPr>
            <a:r>
              <a:rPr lang="en-US" sz="1800" b="1" dirty="0">
                <a:solidFill>
                  <a:srgbClr val="38BDF8"/>
                </a:solidFill>
                <a:latin typeface="Arial" pitchFamily="34" charset="0"/>
                <a:ea typeface="Arial" pitchFamily="34" charset="-122"/>
                <a:cs typeface="Arial" pitchFamily="34" charset="-120"/>
              </a:rPr>
              <a:t>Attempt 1b (Top 7)</a:t>
            </a:r>
            <a:endParaRPr lang="en-US" sz="1800" dirty="0"/>
          </a:p>
        </p:txBody>
      </p:sp>
      <p:sp>
        <p:nvSpPr>
          <p:cNvPr id="9" name="Text 7"/>
          <p:cNvSpPr/>
          <p:nvPr/>
        </p:nvSpPr>
        <p:spPr>
          <a:xfrm>
            <a:off x="838200" y="3326132"/>
            <a:ext cx="7616952" cy="191929"/>
          </a:xfrm>
          <a:prstGeom prst="rect">
            <a:avLst/>
          </a:prstGeom>
          <a:noFill/>
          <a:ln/>
        </p:spPr>
        <p:txBody>
          <a:bodyPr wrap="square" lIns="0" tIns="0" rIns="0" bIns="0" rtlCol="0" anchor="t"/>
          <a:lstStyle/>
          <a:p>
            <a:pPr marL="0" indent="0">
              <a:lnSpc>
                <a:spcPts val="2016"/>
              </a:lnSpc>
              <a:buNone/>
            </a:pPr>
            <a:r>
              <a:rPr lang="en-US" sz="1080" dirty="0">
                <a:solidFill>
                  <a:srgbClr val="CBD5E1"/>
                </a:solidFill>
                <a:latin typeface="Arial" pitchFamily="34" charset="0"/>
                <a:ea typeface="Arial" pitchFamily="34" charset="-122"/>
                <a:cs typeface="Arial" pitchFamily="34" charset="-120"/>
              </a:rPr>
              <a:t>ROC AUC: 0.63 | Recall: 50%</a:t>
            </a:r>
            <a:endParaRPr lang="en-US" sz="1080" dirty="0"/>
          </a:p>
        </p:txBody>
      </p:sp>
      <p:sp>
        <p:nvSpPr>
          <p:cNvPr id="10" name="Text 8"/>
          <p:cNvSpPr/>
          <p:nvPr/>
        </p:nvSpPr>
        <p:spPr>
          <a:xfrm>
            <a:off x="838200" y="3518060"/>
            <a:ext cx="7616952" cy="181332"/>
          </a:xfrm>
          <a:prstGeom prst="rect">
            <a:avLst/>
          </a:prstGeom>
          <a:noFill/>
          <a:ln/>
        </p:spPr>
        <p:txBody>
          <a:bodyPr wrap="square" lIns="0" tIns="0" rIns="0" bIns="0" rtlCol="0" anchor="t"/>
          <a:lstStyle/>
          <a:p>
            <a:pPr marL="0" indent="0">
              <a:lnSpc>
                <a:spcPts val="1904"/>
              </a:lnSpc>
              <a:buNone/>
            </a:pPr>
            <a:r>
              <a:rPr lang="en-US" sz="1020" dirty="0">
                <a:solidFill>
                  <a:srgbClr val="94A3B8"/>
                </a:solidFill>
                <a:latin typeface="Arial" pitchFamily="34" charset="0"/>
                <a:ea typeface="Arial" pitchFamily="34" charset="-122"/>
                <a:cs typeface="Arial" pitchFamily="34" charset="-120"/>
              </a:rPr>
              <a:t> Improved but insufficient sensitivity</a:t>
            </a:r>
            <a:endParaRPr lang="en-US" sz="1020" dirty="0"/>
          </a:p>
        </p:txBody>
      </p:sp>
      <p:pic>
        <p:nvPicPr>
          <p:cNvPr id="13" name="Picture 12">
            <a:extLst>
              <a:ext uri="{FF2B5EF4-FFF2-40B4-BE49-F238E27FC236}">
                <a16:creationId xmlns:a16="http://schemas.microsoft.com/office/drawing/2014/main" id="{6ABB6806-A880-091A-685D-65D35FDBA852}"/>
              </a:ext>
            </a:extLst>
          </p:cNvPr>
          <p:cNvPicPr>
            <a:picLocks noChangeAspect="1"/>
          </p:cNvPicPr>
          <p:nvPr/>
        </p:nvPicPr>
        <p:blipFill>
          <a:blip r:embed="rId3"/>
          <a:stretch>
            <a:fillRect/>
          </a:stretch>
        </p:blipFill>
        <p:spPr>
          <a:xfrm>
            <a:off x="4302861" y="1463614"/>
            <a:ext cx="4002939" cy="332259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852297" y="376515"/>
            <a:ext cx="3992787" cy="1232227"/>
          </a:xfrm>
          <a:prstGeom prst="rect">
            <a:avLst/>
          </a:prstGeom>
        </p:spPr>
        <p:txBody>
          <a:bodyPr vert="horz" lIns="91440" tIns="45720" rIns="91440" bIns="45720" rtlCol="0" anchor="b">
            <a:normAutofit/>
          </a:bodyPr>
          <a:lstStyle/>
          <a:p>
            <a:pPr marL="0" indent="0">
              <a:lnSpc>
                <a:spcPct val="90000"/>
              </a:lnSpc>
              <a:spcBef>
                <a:spcPct val="0"/>
              </a:spcBef>
              <a:spcAft>
                <a:spcPts val="600"/>
              </a:spcAft>
            </a:pPr>
            <a:r>
              <a:rPr lang="en-US" sz="3000" b="1" kern="1200">
                <a:solidFill>
                  <a:schemeClr val="tx1"/>
                </a:solidFill>
                <a:latin typeface="+mj-lt"/>
                <a:ea typeface="+mj-ea"/>
                <a:cs typeface="+mj-cs"/>
              </a:rPr>
              <a:t>Trial 2: Optimized XGBoost (Final Model)</a:t>
            </a:r>
            <a:endParaRPr lang="en-US" sz="3000" kern="1200">
              <a:solidFill>
                <a:schemeClr val="tx1"/>
              </a:solidFill>
              <a:latin typeface="+mj-lt"/>
              <a:ea typeface="+mj-ea"/>
              <a:cs typeface="+mj-cs"/>
            </a:endParaRPr>
          </a:p>
        </p:txBody>
      </p:sp>
      <p:sp>
        <p:nvSpPr>
          <p:cNvPr id="3" name="Text 1"/>
          <p:cNvSpPr/>
          <p:nvPr/>
        </p:nvSpPr>
        <p:spPr>
          <a:xfrm>
            <a:off x="429347" y="1689220"/>
            <a:ext cx="3986392" cy="2651312"/>
          </a:xfrm>
          <a:prstGeom prst="rect">
            <a:avLst/>
          </a:prstGeom>
        </p:spPr>
        <p:txBody>
          <a:bodyPr vert="horz" lIns="91440" tIns="45720" rIns="91440" bIns="45720" rtlCol="0" anchor="t">
            <a:normAutofit/>
          </a:bodyPr>
          <a:lstStyle/>
          <a:p>
            <a:pPr marL="342900" indent="-228600">
              <a:lnSpc>
                <a:spcPct val="90000"/>
              </a:lnSpc>
              <a:spcAft>
                <a:spcPts val="600"/>
              </a:spcAft>
              <a:buSzPct val="100000"/>
              <a:buFont typeface="Arial" panose="020B0604020202020204" pitchFamily="34" charset="0"/>
              <a:buChar char="•"/>
            </a:pPr>
            <a:r>
              <a:rPr lang="en-US" sz="1500" b="1" dirty="0"/>
              <a:t>Model Switch:</a:t>
            </a:r>
            <a:r>
              <a:rPr lang="en-US" sz="1500" dirty="0"/>
              <a:t> </a:t>
            </a:r>
            <a:r>
              <a:rPr lang="en-US" sz="1500" dirty="0" err="1"/>
              <a:t>XGBoost</a:t>
            </a:r>
            <a:r>
              <a:rPr lang="en-US" sz="1500" dirty="0"/>
              <a:t> for non-linear interactions</a:t>
            </a:r>
          </a:p>
          <a:p>
            <a:pPr marL="342900" indent="-228600">
              <a:lnSpc>
                <a:spcPct val="90000"/>
              </a:lnSpc>
              <a:spcAft>
                <a:spcPts val="600"/>
              </a:spcAft>
              <a:buSzPct val="100000"/>
              <a:buFont typeface="Arial" panose="020B0604020202020204" pitchFamily="34" charset="0"/>
              <a:buChar char="•"/>
            </a:pPr>
            <a:r>
              <a:rPr lang="en-US" sz="1500" b="1" dirty="0"/>
              <a:t>Validation:</a:t>
            </a:r>
            <a:r>
              <a:rPr lang="en-US" sz="1500" dirty="0"/>
              <a:t> Stratified 5-Fold Cross-Validation</a:t>
            </a:r>
          </a:p>
          <a:p>
            <a:pPr marL="342900" indent="-228600">
              <a:lnSpc>
                <a:spcPct val="90000"/>
              </a:lnSpc>
              <a:spcAft>
                <a:spcPts val="600"/>
              </a:spcAft>
              <a:buSzPct val="100000"/>
              <a:buFont typeface="Arial" panose="020B0604020202020204" pitchFamily="34" charset="0"/>
              <a:buChar char="•"/>
            </a:pPr>
            <a:r>
              <a:rPr lang="en-US" sz="1500" b="1" dirty="0"/>
              <a:t>Imbalance Tuning:</a:t>
            </a:r>
            <a:r>
              <a:rPr lang="en-US" sz="1500" dirty="0"/>
              <a:t> Grid search on </a:t>
            </a:r>
            <a:r>
              <a:rPr lang="en-US" sz="1500" dirty="0" err="1"/>
              <a:t>scale_pos_weight</a:t>
            </a:r>
            <a:r>
              <a:rPr lang="en-US" sz="1500" dirty="0"/>
              <a:t> (0.25–1.0)</a:t>
            </a:r>
          </a:p>
          <a:p>
            <a:pPr marL="342900" indent="-228600">
              <a:lnSpc>
                <a:spcPct val="90000"/>
              </a:lnSpc>
              <a:spcAft>
                <a:spcPts val="600"/>
              </a:spcAft>
              <a:buSzPct val="100000"/>
              <a:buFont typeface="Arial" panose="020B0604020202020204" pitchFamily="34" charset="0"/>
              <a:buChar char="•"/>
            </a:pPr>
            <a:r>
              <a:rPr lang="en-US" sz="1500" b="1" dirty="0"/>
              <a:t>Feature Optimization:</a:t>
            </a:r>
            <a:r>
              <a:rPr lang="en-US" sz="1500" dirty="0"/>
              <a:t> Confirmed k=7 as optimal</a:t>
            </a:r>
          </a:p>
          <a:p>
            <a:pPr marL="342900" indent="-228600">
              <a:lnSpc>
                <a:spcPct val="90000"/>
              </a:lnSpc>
              <a:spcAft>
                <a:spcPts val="600"/>
              </a:spcAft>
              <a:buSzPct val="100000"/>
              <a:buFont typeface="Arial" panose="020B0604020202020204" pitchFamily="34" charset="0"/>
              <a:buChar char="•"/>
            </a:pPr>
            <a:r>
              <a:rPr lang="en-US" sz="1500" b="1" dirty="0"/>
              <a:t>Best Parameters:</a:t>
            </a:r>
            <a:r>
              <a:rPr lang="en-US" sz="1500" dirty="0"/>
              <a:t> </a:t>
            </a:r>
            <a:r>
              <a:rPr lang="en-US" sz="1500" dirty="0" err="1"/>
              <a:t>scale_pos_weight</a:t>
            </a:r>
            <a:r>
              <a:rPr lang="en-US" sz="1500" dirty="0"/>
              <a:t>=0.25, depth=6, </a:t>
            </a:r>
            <a:r>
              <a:rPr lang="en-US" sz="1500" dirty="0" err="1"/>
              <a:t>learning_rate</a:t>
            </a:r>
            <a:r>
              <a:rPr lang="en-US" sz="1500" dirty="0"/>
              <a:t>=0.1</a:t>
            </a:r>
          </a:p>
        </p:txBody>
      </p:sp>
      <p:sp>
        <p:nvSpPr>
          <p:cNvPr id="27" name="Rectangle 26">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3"/>
            <a:ext cx="3069391" cy="5143499"/>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
            <a:ext cx="3069391" cy="4800276"/>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6"/>
            <a:ext cx="3051501" cy="4800291"/>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7"/>
            <a:ext cx="2708601" cy="51434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8FAEF019-13AE-E74E-50EC-73F48093D41E}"/>
              </a:ext>
            </a:extLst>
          </p:cNvPr>
          <p:cNvPicPr>
            <a:picLocks noChangeAspect="1"/>
          </p:cNvPicPr>
          <p:nvPr/>
        </p:nvPicPr>
        <p:blipFill>
          <a:blip r:embed="rId3"/>
          <a:stretch>
            <a:fillRect/>
          </a:stretch>
        </p:blipFill>
        <p:spPr>
          <a:xfrm>
            <a:off x="4371750" y="439200"/>
            <a:ext cx="4063124" cy="427697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lowchart: Document 7">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631" y="0"/>
            <a:ext cx="2436019" cy="2550319"/>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628650" y="128371"/>
            <a:ext cx="2130136" cy="1778361"/>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2400" b="1" kern="1200">
                <a:solidFill>
                  <a:srgbClr val="FFFFFF"/>
                </a:solidFill>
                <a:latin typeface="+mj-lt"/>
                <a:ea typeface="+mj-ea"/>
                <a:cs typeface="+mj-cs"/>
              </a:rPr>
              <a:t>Final Model Performance (Test Set)</a:t>
            </a:r>
            <a:endParaRPr lang="en-US" sz="2400" kern="1200">
              <a:solidFill>
                <a:srgbClr val="FFFFFF"/>
              </a:solidFill>
              <a:latin typeface="+mj-lt"/>
              <a:ea typeface="+mj-ea"/>
              <a:cs typeface="+mj-cs"/>
            </a:endParaRPr>
          </a:p>
        </p:txBody>
      </p:sp>
      <p:graphicFrame>
        <p:nvGraphicFramePr>
          <p:cNvPr id="3" name="Table 2">
            <a:extLst>
              <a:ext uri="{FF2B5EF4-FFF2-40B4-BE49-F238E27FC236}">
                <a16:creationId xmlns:a16="http://schemas.microsoft.com/office/drawing/2014/main" id="{46C07505-0119-1CE1-2C58-C9ACB1DF88E4}"/>
              </a:ext>
            </a:extLst>
          </p:cNvPr>
          <p:cNvGraphicFramePr>
            <a:graphicFrameLocks noGrp="1"/>
          </p:cNvGraphicFramePr>
          <p:nvPr>
            <p:extLst>
              <p:ext uri="{D42A27DB-BD31-4B8C-83A1-F6EECF244321}">
                <p14:modId xmlns:p14="http://schemas.microsoft.com/office/powerpoint/2010/main" val="724838848"/>
              </p:ext>
            </p:extLst>
          </p:nvPr>
        </p:nvGraphicFramePr>
        <p:xfrm>
          <a:off x="3155949" y="820453"/>
          <a:ext cx="5510654" cy="3723706"/>
        </p:xfrm>
        <a:graphic>
          <a:graphicData uri="http://schemas.openxmlformats.org/drawingml/2006/table">
            <a:tbl>
              <a:tblPr firstRow="1" bandRow="1"/>
              <a:tblGrid>
                <a:gridCol w="2024145">
                  <a:extLst>
                    <a:ext uri="{9D8B030D-6E8A-4147-A177-3AD203B41FA5}">
                      <a16:colId xmlns:a16="http://schemas.microsoft.com/office/drawing/2014/main" val="2123526267"/>
                    </a:ext>
                  </a:extLst>
                </a:gridCol>
                <a:gridCol w="1462364">
                  <a:extLst>
                    <a:ext uri="{9D8B030D-6E8A-4147-A177-3AD203B41FA5}">
                      <a16:colId xmlns:a16="http://schemas.microsoft.com/office/drawing/2014/main" val="2672851045"/>
                    </a:ext>
                  </a:extLst>
                </a:gridCol>
                <a:gridCol w="2024145">
                  <a:extLst>
                    <a:ext uri="{9D8B030D-6E8A-4147-A177-3AD203B41FA5}">
                      <a16:colId xmlns:a16="http://schemas.microsoft.com/office/drawing/2014/main" val="368799185"/>
                    </a:ext>
                  </a:extLst>
                </a:gridCol>
              </a:tblGrid>
              <a:tr h="648116">
                <a:tc>
                  <a:txBody>
                    <a:bodyPr/>
                    <a:lstStyle/>
                    <a:p>
                      <a:pPr algn="l">
                        <a:buNone/>
                      </a:pPr>
                      <a:r>
                        <a:rPr lang="en-US" sz="1700" b="1">
                          <a:solidFill>
                            <a:srgbClr val="0F172A"/>
                          </a:solidFill>
                          <a:effectLst/>
                        </a:rPr>
                        <a:t>Metric</a:t>
                      </a:r>
                    </a:p>
                  </a:txBody>
                  <a:tcPr marL="87583" marR="87583" marT="43792" marB="43792" anchor="ctr">
                    <a:lnL>
                      <a:noFill/>
                    </a:lnL>
                    <a:lnR>
                      <a:noFill/>
                    </a:lnR>
                    <a:lnT>
                      <a:noFill/>
                    </a:lnT>
                    <a:lnB>
                      <a:noFill/>
                    </a:lnB>
                    <a:solidFill>
                      <a:srgbClr val="38BDF8"/>
                    </a:solidFill>
                  </a:tcPr>
                </a:tc>
                <a:tc>
                  <a:txBody>
                    <a:bodyPr/>
                    <a:lstStyle/>
                    <a:p>
                      <a:pPr algn="l">
                        <a:buNone/>
                      </a:pPr>
                      <a:r>
                        <a:rPr lang="en-US" sz="1700" b="1">
                          <a:solidFill>
                            <a:srgbClr val="0F172A"/>
                          </a:solidFill>
                          <a:effectLst/>
                        </a:rPr>
                        <a:t>Score</a:t>
                      </a:r>
                    </a:p>
                  </a:txBody>
                  <a:tcPr marL="87583" marR="87583" marT="43792" marB="43792" anchor="ctr">
                    <a:lnL>
                      <a:noFill/>
                    </a:lnL>
                    <a:lnR>
                      <a:noFill/>
                    </a:lnR>
                    <a:lnT>
                      <a:noFill/>
                    </a:lnT>
                    <a:lnB>
                      <a:noFill/>
                    </a:lnB>
                    <a:solidFill>
                      <a:srgbClr val="38BDF8"/>
                    </a:solidFill>
                  </a:tcPr>
                </a:tc>
                <a:tc>
                  <a:txBody>
                    <a:bodyPr/>
                    <a:lstStyle/>
                    <a:p>
                      <a:pPr algn="l">
                        <a:buNone/>
                      </a:pPr>
                      <a:r>
                        <a:rPr lang="en-US" sz="1700" b="1">
                          <a:solidFill>
                            <a:srgbClr val="0F172A"/>
                          </a:solidFill>
                          <a:effectLst/>
                        </a:rPr>
                        <a:t>Clinical Interpretation</a:t>
                      </a:r>
                    </a:p>
                  </a:txBody>
                  <a:tcPr marL="87583" marR="87583" marT="43792" marB="43792" anchor="ctr">
                    <a:lnL>
                      <a:noFill/>
                    </a:lnL>
                    <a:lnR>
                      <a:noFill/>
                    </a:lnR>
                    <a:lnT>
                      <a:noFill/>
                    </a:lnT>
                    <a:lnB>
                      <a:noFill/>
                    </a:lnB>
                    <a:solidFill>
                      <a:srgbClr val="38BDF8"/>
                    </a:solidFill>
                  </a:tcPr>
                </a:tc>
                <a:extLst>
                  <a:ext uri="{0D108BD9-81ED-4DB2-BD59-A6C34878D82A}">
                    <a16:rowId xmlns:a16="http://schemas.microsoft.com/office/drawing/2014/main" val="577791771"/>
                  </a:ext>
                </a:extLst>
              </a:tr>
              <a:tr h="648116">
                <a:tc>
                  <a:txBody>
                    <a:bodyPr/>
                    <a:lstStyle/>
                    <a:p>
                      <a:pPr>
                        <a:buNone/>
                      </a:pPr>
                      <a:r>
                        <a:rPr lang="en-US" sz="1700">
                          <a:solidFill>
                            <a:srgbClr val="A4A4A4"/>
                          </a:solidFill>
                          <a:effectLst/>
                        </a:rPr>
                        <a:t>Recall (Ruptured)</a:t>
                      </a:r>
                    </a:p>
                  </a:txBody>
                  <a:tcPr marL="87583" marR="87583" marT="43792" marB="43792" anchor="ctr">
                    <a:lnL>
                      <a:noFill/>
                    </a:lnL>
                    <a:lnR>
                      <a:noFill/>
                    </a:lnR>
                    <a:lnT>
                      <a:noFill/>
                    </a:lnT>
                    <a:lnB w="7620" cap="flat" cmpd="sng" algn="ctr">
                      <a:solidFill>
                        <a:srgbClr val="334155"/>
                      </a:solidFill>
                      <a:prstDash val="solid"/>
                      <a:round/>
                      <a:headEnd type="none" w="med" len="med"/>
                      <a:tailEnd type="none" w="med" len="med"/>
                    </a:lnB>
                    <a:solidFill>
                      <a:srgbClr val="0F172A"/>
                    </a:solidFill>
                  </a:tcPr>
                </a:tc>
                <a:tc>
                  <a:txBody>
                    <a:bodyPr/>
                    <a:lstStyle/>
                    <a:p>
                      <a:pPr>
                        <a:buNone/>
                      </a:pPr>
                      <a:r>
                        <a:rPr lang="en-US" sz="1700" b="1">
                          <a:solidFill>
                            <a:srgbClr val="38BDF8"/>
                          </a:solidFill>
                          <a:effectLst/>
                        </a:rPr>
                        <a:t>75%</a:t>
                      </a:r>
                    </a:p>
                  </a:txBody>
                  <a:tcPr marL="87583" marR="87583" marT="43792" marB="43792" anchor="ctr">
                    <a:lnL>
                      <a:noFill/>
                    </a:lnL>
                    <a:lnR>
                      <a:noFill/>
                    </a:lnR>
                    <a:lnT>
                      <a:noFill/>
                    </a:lnT>
                    <a:lnB w="7620" cap="flat" cmpd="sng" algn="ctr">
                      <a:solidFill>
                        <a:srgbClr val="334155"/>
                      </a:solidFill>
                      <a:prstDash val="solid"/>
                      <a:round/>
                      <a:headEnd type="none" w="med" len="med"/>
                      <a:tailEnd type="none" w="med" len="med"/>
                    </a:lnB>
                    <a:solidFill>
                      <a:srgbClr val="0F172A"/>
                    </a:solidFill>
                  </a:tcPr>
                </a:tc>
                <a:tc>
                  <a:txBody>
                    <a:bodyPr/>
                    <a:lstStyle/>
                    <a:p>
                      <a:pPr>
                        <a:buNone/>
                      </a:pPr>
                      <a:r>
                        <a:rPr lang="en-US" sz="1700">
                          <a:solidFill>
                            <a:srgbClr val="A4A4A4"/>
                          </a:solidFill>
                          <a:effectLst/>
                        </a:rPr>
                        <a:t>✓ 3 of 4 ruptures correctly identified</a:t>
                      </a:r>
                    </a:p>
                  </a:txBody>
                  <a:tcPr marL="87583" marR="87583" marT="43792" marB="43792" anchor="ctr">
                    <a:lnL>
                      <a:noFill/>
                    </a:lnL>
                    <a:lnR>
                      <a:noFill/>
                    </a:lnR>
                    <a:lnT>
                      <a:noFill/>
                    </a:lnT>
                    <a:lnB w="7620"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3482300463"/>
                  </a:ext>
                </a:extLst>
              </a:tr>
              <a:tr h="910865">
                <a:tc>
                  <a:txBody>
                    <a:bodyPr/>
                    <a:lstStyle/>
                    <a:p>
                      <a:pPr>
                        <a:buNone/>
                      </a:pPr>
                      <a:r>
                        <a:rPr lang="en-US" sz="1700">
                          <a:solidFill>
                            <a:srgbClr val="A4A4A4"/>
                          </a:solidFill>
                          <a:effectLst/>
                        </a:rPr>
                        <a:t>Precision</a:t>
                      </a:r>
                    </a:p>
                  </a:txBody>
                  <a:tcPr marL="87583" marR="87583" marT="43792" marB="43792"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solidFill>
                      <a:srgbClr val="0F172A"/>
                    </a:solidFill>
                  </a:tcPr>
                </a:tc>
                <a:tc>
                  <a:txBody>
                    <a:bodyPr/>
                    <a:lstStyle/>
                    <a:p>
                      <a:pPr>
                        <a:buNone/>
                      </a:pPr>
                      <a:r>
                        <a:rPr lang="en-US" sz="1700" b="1">
                          <a:solidFill>
                            <a:srgbClr val="38BDF8"/>
                          </a:solidFill>
                          <a:effectLst/>
                        </a:rPr>
                        <a:t>75%</a:t>
                      </a:r>
                    </a:p>
                  </a:txBody>
                  <a:tcPr marL="87583" marR="87583" marT="43792" marB="43792"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solidFill>
                      <a:srgbClr val="0F172A"/>
                    </a:solidFill>
                  </a:tcPr>
                </a:tc>
                <a:tc>
                  <a:txBody>
                    <a:bodyPr/>
                    <a:lstStyle/>
                    <a:p>
                      <a:pPr>
                        <a:buNone/>
                      </a:pPr>
                      <a:r>
                        <a:rPr lang="en-US" sz="1700">
                          <a:solidFill>
                            <a:srgbClr val="A4A4A4"/>
                          </a:solidFill>
                          <a:effectLst/>
                        </a:rPr>
                        <a:t>✓ Few false alarms for patient safety</a:t>
                      </a:r>
                    </a:p>
                  </a:txBody>
                  <a:tcPr marL="87583" marR="87583" marT="43792" marB="43792"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3879670079"/>
                  </a:ext>
                </a:extLst>
              </a:tr>
              <a:tr h="910865">
                <a:tc>
                  <a:txBody>
                    <a:bodyPr/>
                    <a:lstStyle/>
                    <a:p>
                      <a:pPr>
                        <a:buNone/>
                      </a:pPr>
                      <a:r>
                        <a:rPr lang="en-US" sz="1700">
                          <a:solidFill>
                            <a:srgbClr val="A4A4A4"/>
                          </a:solidFill>
                          <a:effectLst/>
                        </a:rPr>
                        <a:t>PR AUC</a:t>
                      </a:r>
                    </a:p>
                  </a:txBody>
                  <a:tcPr marL="87583" marR="87583" marT="43792" marB="43792"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solidFill>
                      <a:srgbClr val="0F172A"/>
                    </a:solidFill>
                  </a:tcPr>
                </a:tc>
                <a:tc>
                  <a:txBody>
                    <a:bodyPr/>
                    <a:lstStyle/>
                    <a:p>
                      <a:pPr>
                        <a:buNone/>
                      </a:pPr>
                      <a:r>
                        <a:rPr lang="en-US" sz="1700" b="1">
                          <a:solidFill>
                            <a:srgbClr val="38BDF8"/>
                          </a:solidFill>
                          <a:effectLst/>
                        </a:rPr>
                        <a:t>0.8044</a:t>
                      </a:r>
                    </a:p>
                  </a:txBody>
                  <a:tcPr marL="87583" marR="87583" marT="43792" marB="43792"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solidFill>
                      <a:srgbClr val="0F172A"/>
                    </a:solidFill>
                  </a:tcPr>
                </a:tc>
                <a:tc>
                  <a:txBody>
                    <a:bodyPr/>
                    <a:lstStyle/>
                    <a:p>
                      <a:pPr>
                        <a:buNone/>
                      </a:pPr>
                      <a:r>
                        <a:rPr lang="en-US" sz="1700">
                          <a:solidFill>
                            <a:srgbClr val="A4A4A4"/>
                          </a:solidFill>
                          <a:effectLst/>
                        </a:rPr>
                        <a:t>✓ Excellent for imbalanced classification</a:t>
                      </a:r>
                    </a:p>
                  </a:txBody>
                  <a:tcPr marL="87583" marR="87583" marT="43792" marB="43792"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924525979"/>
                  </a:ext>
                </a:extLst>
              </a:tr>
              <a:tr h="385366">
                <a:tc>
                  <a:txBody>
                    <a:bodyPr/>
                    <a:lstStyle/>
                    <a:p>
                      <a:pPr>
                        <a:buNone/>
                      </a:pPr>
                      <a:r>
                        <a:rPr lang="en-US" sz="1700">
                          <a:solidFill>
                            <a:srgbClr val="B5B5B5"/>
                          </a:solidFill>
                          <a:effectLst/>
                        </a:rPr>
                        <a:t>Accuracy</a:t>
                      </a:r>
                    </a:p>
                  </a:txBody>
                  <a:tcPr marL="87583" marR="87583" marT="43792" marB="43792"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solidFill>
                      <a:srgbClr val="1E293B"/>
                    </a:solidFill>
                  </a:tcPr>
                </a:tc>
                <a:tc>
                  <a:txBody>
                    <a:bodyPr/>
                    <a:lstStyle/>
                    <a:p>
                      <a:pPr>
                        <a:buNone/>
                      </a:pPr>
                      <a:r>
                        <a:rPr lang="en-US" sz="1700" b="1">
                          <a:solidFill>
                            <a:srgbClr val="38BDF8"/>
                          </a:solidFill>
                          <a:effectLst/>
                        </a:rPr>
                        <a:t>61.9%</a:t>
                      </a:r>
                    </a:p>
                  </a:txBody>
                  <a:tcPr marL="87583" marR="87583" marT="43792" marB="43792"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solidFill>
                      <a:srgbClr val="1E293B"/>
                    </a:solidFill>
                  </a:tcPr>
                </a:tc>
                <a:tc>
                  <a:txBody>
                    <a:bodyPr/>
                    <a:lstStyle/>
                    <a:p>
                      <a:pPr>
                        <a:buNone/>
                      </a:pPr>
                      <a:r>
                        <a:rPr lang="en-US" sz="1700" dirty="0">
                          <a:solidFill>
                            <a:srgbClr val="B5B5B5"/>
                          </a:solidFill>
                          <a:effectLst/>
                        </a:rPr>
                        <a:t>Reasonable for small imbalanced dataset</a:t>
                      </a:r>
                    </a:p>
                  </a:txBody>
                  <a:tcPr marL="87583" marR="87583" marT="43792" marB="43792"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2714616557"/>
                  </a:ext>
                </a:extLst>
              </a:tr>
            </a:tbl>
          </a:graphicData>
        </a:graphic>
      </p:graphicFrame>
      <p:pic>
        <p:nvPicPr>
          <p:cNvPr id="5" name="Picture 4">
            <a:extLst>
              <a:ext uri="{FF2B5EF4-FFF2-40B4-BE49-F238E27FC236}">
                <a16:creationId xmlns:a16="http://schemas.microsoft.com/office/drawing/2014/main" id="{49C03015-636C-E03E-C0DC-568602F5B80B}"/>
              </a:ext>
            </a:extLst>
          </p:cNvPr>
          <p:cNvPicPr>
            <a:picLocks noChangeAspect="1"/>
          </p:cNvPicPr>
          <p:nvPr/>
        </p:nvPicPr>
        <p:blipFill>
          <a:blip r:embed="rId3"/>
          <a:srcRect t="65092" r="41882" b="14611"/>
          <a:stretch>
            <a:fillRect/>
          </a:stretch>
        </p:blipFill>
        <p:spPr>
          <a:xfrm>
            <a:off x="273786" y="2757600"/>
            <a:ext cx="2839864" cy="1044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80"/>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Confusion Matrix &amp; Clinical Insights</a:t>
            </a:r>
            <a:endParaRPr lang="en-US" sz="2700" dirty="0"/>
          </a:p>
        </p:txBody>
      </p:sp>
      <p:sp>
        <p:nvSpPr>
          <p:cNvPr id="3" name="Text 1"/>
          <p:cNvSpPr/>
          <p:nvPr/>
        </p:nvSpPr>
        <p:spPr>
          <a:xfrm>
            <a:off x="2297668" y="3044191"/>
            <a:ext cx="4639637" cy="213360"/>
          </a:xfrm>
          <a:prstGeom prst="rect">
            <a:avLst/>
          </a:prstGeom>
          <a:noFill/>
          <a:ln/>
        </p:spPr>
        <p:txBody>
          <a:bodyPr wrap="square" lIns="0" tIns="0" rIns="0" bIns="0" rtlCol="0" anchor="t"/>
          <a:lstStyle/>
          <a:p>
            <a:pPr marL="0" indent="0">
              <a:lnSpc>
                <a:spcPts val="2240"/>
              </a:lnSpc>
              <a:buNone/>
            </a:pPr>
            <a:r>
              <a:rPr lang="en-US" sz="1200" b="1" dirty="0">
                <a:solidFill>
                  <a:srgbClr val="38BDF8"/>
                </a:solidFill>
                <a:latin typeface="Arial" pitchFamily="34" charset="0"/>
                <a:ea typeface="Arial" pitchFamily="34" charset="-122"/>
                <a:cs typeface="Arial" pitchFamily="34" charset="-120"/>
              </a:rPr>
              <a:t>✓ Goal Achieved:</a:t>
            </a:r>
            <a:r>
              <a:rPr lang="en-US" sz="1200" dirty="0">
                <a:solidFill>
                  <a:srgbClr val="CBD5E1"/>
                </a:solidFill>
                <a:latin typeface="Arial" pitchFamily="34" charset="0"/>
                <a:ea typeface="Arial" pitchFamily="34" charset="-122"/>
                <a:cs typeface="Arial" pitchFamily="34" charset="-120"/>
              </a:rPr>
              <a:t> High sensitivity minimizes missed ruptures</a:t>
            </a:r>
            <a:endParaRPr lang="en-US" sz="1200" dirty="0"/>
          </a:p>
        </p:txBody>
      </p:sp>
      <p:sp>
        <p:nvSpPr>
          <p:cNvPr id="4" name="Text 2"/>
          <p:cNvSpPr/>
          <p:nvPr/>
        </p:nvSpPr>
        <p:spPr>
          <a:xfrm>
            <a:off x="2297668" y="3379473"/>
            <a:ext cx="4639637" cy="213360"/>
          </a:xfrm>
          <a:prstGeom prst="rect">
            <a:avLst/>
          </a:prstGeom>
          <a:noFill/>
          <a:ln/>
        </p:spPr>
        <p:txBody>
          <a:bodyPr wrap="square" lIns="0" tIns="0" rIns="0" bIns="0" rtlCol="0" anchor="t"/>
          <a:lstStyle/>
          <a:p>
            <a:pPr marL="0" indent="0">
              <a:lnSpc>
                <a:spcPts val="2240"/>
              </a:lnSpc>
              <a:buNone/>
            </a:pPr>
            <a:r>
              <a:rPr lang="en-US" sz="1200" b="1" dirty="0">
                <a:solidFill>
                  <a:srgbClr val="38BDF8"/>
                </a:solidFill>
                <a:latin typeface="Arial" pitchFamily="34" charset="0"/>
                <a:ea typeface="Arial" pitchFamily="34" charset="-122"/>
                <a:cs typeface="Arial" pitchFamily="34" charset="-120"/>
              </a:rPr>
              <a:t>✓ Clinically Safe:</a:t>
            </a:r>
            <a:r>
              <a:rPr lang="en-US" sz="1200" dirty="0">
                <a:solidFill>
                  <a:srgbClr val="CBD5E1"/>
                </a:solidFill>
                <a:latin typeface="Arial" pitchFamily="34" charset="0"/>
                <a:ea typeface="Arial" pitchFamily="34" charset="-122"/>
                <a:cs typeface="Arial" pitchFamily="34" charset="-120"/>
              </a:rPr>
              <a:t> Fewer false negatives = patient safety prioritized</a:t>
            </a:r>
            <a:endParaRPr lang="en-US" sz="1200" dirty="0"/>
          </a:p>
        </p:txBody>
      </p:sp>
      <p:sp>
        <p:nvSpPr>
          <p:cNvPr id="5" name="Text 3"/>
          <p:cNvSpPr/>
          <p:nvPr/>
        </p:nvSpPr>
        <p:spPr>
          <a:xfrm>
            <a:off x="2297668" y="3714750"/>
            <a:ext cx="4639637" cy="213360"/>
          </a:xfrm>
          <a:prstGeom prst="rect">
            <a:avLst/>
          </a:prstGeom>
          <a:noFill/>
          <a:ln/>
        </p:spPr>
        <p:txBody>
          <a:bodyPr wrap="square" lIns="0" tIns="0" rIns="0" bIns="0" rtlCol="0" anchor="t"/>
          <a:lstStyle/>
          <a:p>
            <a:pPr marL="0" indent="0">
              <a:lnSpc>
                <a:spcPts val="2240"/>
              </a:lnSpc>
              <a:buNone/>
            </a:pPr>
            <a:r>
              <a:rPr lang="en-US" sz="1200" b="1" dirty="0">
                <a:solidFill>
                  <a:srgbClr val="38BDF8"/>
                </a:solidFill>
                <a:latin typeface="Arial" pitchFamily="34" charset="0"/>
                <a:ea typeface="Arial" pitchFamily="34" charset="-122"/>
                <a:cs typeface="Arial" pitchFamily="34" charset="-120"/>
              </a:rPr>
              <a:t>✓ Acceptable Trade-off:</a:t>
            </a:r>
            <a:r>
              <a:rPr lang="en-US" sz="1200" dirty="0">
                <a:solidFill>
                  <a:srgbClr val="CBD5E1"/>
                </a:solidFill>
                <a:latin typeface="Arial" pitchFamily="34" charset="0"/>
                <a:ea typeface="Arial" pitchFamily="34" charset="-122"/>
                <a:cs typeface="Arial" pitchFamily="34" charset="-120"/>
              </a:rPr>
              <a:t> Low false positives maintain clinical utility</a:t>
            </a:r>
            <a:endParaRPr lang="en-US" sz="1200" dirty="0"/>
          </a:p>
        </p:txBody>
      </p:sp>
      <p:graphicFrame>
        <p:nvGraphicFramePr>
          <p:cNvPr id="6" name="Table 5">
            <a:extLst>
              <a:ext uri="{FF2B5EF4-FFF2-40B4-BE49-F238E27FC236}">
                <a16:creationId xmlns:a16="http://schemas.microsoft.com/office/drawing/2014/main" id="{50050A9B-8592-A2B1-977B-AD4C32E62B17}"/>
              </a:ext>
            </a:extLst>
          </p:cNvPr>
          <p:cNvGraphicFramePr>
            <a:graphicFrameLocks noGrp="1"/>
          </p:cNvGraphicFramePr>
          <p:nvPr>
            <p:extLst>
              <p:ext uri="{D42A27DB-BD31-4B8C-83A1-F6EECF244321}">
                <p14:modId xmlns:p14="http://schemas.microsoft.com/office/powerpoint/2010/main" val="181480975"/>
              </p:ext>
            </p:extLst>
          </p:nvPr>
        </p:nvGraphicFramePr>
        <p:xfrm>
          <a:off x="609600" y="1428750"/>
          <a:ext cx="7886700" cy="1097280"/>
        </p:xfrm>
        <a:graphic>
          <a:graphicData uri="http://schemas.openxmlformats.org/drawingml/2006/table">
            <a:tbl>
              <a:tblPr/>
              <a:tblGrid>
                <a:gridCol w="2628900">
                  <a:extLst>
                    <a:ext uri="{9D8B030D-6E8A-4147-A177-3AD203B41FA5}">
                      <a16:colId xmlns:a16="http://schemas.microsoft.com/office/drawing/2014/main" val="2039873662"/>
                    </a:ext>
                  </a:extLst>
                </a:gridCol>
                <a:gridCol w="2628900">
                  <a:extLst>
                    <a:ext uri="{9D8B030D-6E8A-4147-A177-3AD203B41FA5}">
                      <a16:colId xmlns:a16="http://schemas.microsoft.com/office/drawing/2014/main" val="3448145188"/>
                    </a:ext>
                  </a:extLst>
                </a:gridCol>
                <a:gridCol w="2628900">
                  <a:extLst>
                    <a:ext uri="{9D8B030D-6E8A-4147-A177-3AD203B41FA5}">
                      <a16:colId xmlns:a16="http://schemas.microsoft.com/office/drawing/2014/main" val="3495277128"/>
                    </a:ext>
                  </a:extLst>
                </a:gridCol>
              </a:tblGrid>
              <a:tr h="0">
                <a:tc>
                  <a:txBody>
                    <a:bodyPr/>
                    <a:lstStyle/>
                    <a:p>
                      <a:pPr algn="l">
                        <a:buNone/>
                      </a:pPr>
                      <a:r>
                        <a:rPr lang="en-US" b="1">
                          <a:solidFill>
                            <a:srgbClr val="0F172A"/>
                          </a:solidFill>
                          <a:effectLst/>
                        </a:rPr>
                        <a:t>Actual \ Predicted</a:t>
                      </a:r>
                    </a:p>
                  </a:txBody>
                  <a:tcPr anchor="ctr">
                    <a:lnL>
                      <a:noFill/>
                    </a:lnL>
                    <a:lnR>
                      <a:noFill/>
                    </a:lnR>
                    <a:lnT>
                      <a:noFill/>
                    </a:lnT>
                    <a:lnB>
                      <a:noFill/>
                    </a:lnB>
                    <a:solidFill>
                      <a:srgbClr val="38BDF8"/>
                    </a:solidFill>
                  </a:tcPr>
                </a:tc>
                <a:tc>
                  <a:txBody>
                    <a:bodyPr/>
                    <a:lstStyle/>
                    <a:p>
                      <a:pPr algn="l">
                        <a:buNone/>
                      </a:pPr>
                      <a:r>
                        <a:rPr lang="en-US" b="1">
                          <a:solidFill>
                            <a:srgbClr val="0F172A"/>
                          </a:solidFill>
                          <a:effectLst/>
                        </a:rPr>
                        <a:t>Unruptured</a:t>
                      </a:r>
                    </a:p>
                  </a:txBody>
                  <a:tcPr anchor="ctr">
                    <a:lnL>
                      <a:noFill/>
                    </a:lnL>
                    <a:lnR>
                      <a:noFill/>
                    </a:lnR>
                    <a:lnT>
                      <a:noFill/>
                    </a:lnT>
                    <a:lnB>
                      <a:noFill/>
                    </a:lnB>
                    <a:solidFill>
                      <a:srgbClr val="38BDF8"/>
                    </a:solidFill>
                  </a:tcPr>
                </a:tc>
                <a:tc>
                  <a:txBody>
                    <a:bodyPr/>
                    <a:lstStyle/>
                    <a:p>
                      <a:pPr algn="l">
                        <a:buNone/>
                      </a:pPr>
                      <a:r>
                        <a:rPr lang="en-US" b="1">
                          <a:solidFill>
                            <a:srgbClr val="0F172A"/>
                          </a:solidFill>
                          <a:effectLst/>
                        </a:rPr>
                        <a:t>Ruptured</a:t>
                      </a:r>
                    </a:p>
                  </a:txBody>
                  <a:tcPr anchor="ctr">
                    <a:lnL>
                      <a:noFill/>
                    </a:lnL>
                    <a:lnR>
                      <a:noFill/>
                    </a:lnR>
                    <a:lnT>
                      <a:noFill/>
                    </a:lnT>
                    <a:lnB>
                      <a:noFill/>
                    </a:lnB>
                    <a:solidFill>
                      <a:srgbClr val="38BDF8"/>
                    </a:solidFill>
                  </a:tcPr>
                </a:tc>
                <a:extLst>
                  <a:ext uri="{0D108BD9-81ED-4DB2-BD59-A6C34878D82A}">
                    <a16:rowId xmlns:a16="http://schemas.microsoft.com/office/drawing/2014/main" val="245293976"/>
                  </a:ext>
                </a:extLst>
              </a:tr>
              <a:tr h="0">
                <a:tc>
                  <a:txBody>
                    <a:bodyPr/>
                    <a:lstStyle/>
                    <a:p>
                      <a:pPr>
                        <a:buNone/>
                      </a:pPr>
                      <a:r>
                        <a:rPr lang="en-US" b="1">
                          <a:solidFill>
                            <a:schemeClr val="bg2"/>
                          </a:solidFill>
                          <a:effectLst/>
                        </a:rPr>
                        <a:t>Unruptured</a:t>
                      </a:r>
                      <a:endParaRPr lang="en-US">
                        <a:solidFill>
                          <a:schemeClr val="bg2"/>
                        </a:solidFill>
                        <a:effectLst/>
                      </a:endParaRPr>
                    </a:p>
                  </a:txBody>
                  <a:tcPr anchor="ctr">
                    <a:lnL>
                      <a:noFill/>
                    </a:lnL>
                    <a:lnR>
                      <a:noFill/>
                    </a:lnR>
                    <a:lnT>
                      <a:noFill/>
                    </a:lnT>
                    <a:lnB w="7620" cap="flat" cmpd="sng" algn="ctr">
                      <a:solidFill>
                        <a:srgbClr val="334155"/>
                      </a:solidFill>
                      <a:prstDash val="solid"/>
                      <a:round/>
                      <a:headEnd type="none" w="med" len="med"/>
                      <a:tailEnd type="none" w="med" len="med"/>
                    </a:lnB>
                    <a:solidFill>
                      <a:srgbClr val="0F172A"/>
                    </a:solidFill>
                  </a:tcPr>
                </a:tc>
                <a:tc>
                  <a:txBody>
                    <a:bodyPr/>
                    <a:lstStyle/>
                    <a:p>
                      <a:pPr>
                        <a:buNone/>
                      </a:pPr>
                      <a:r>
                        <a:rPr lang="en-US" b="1">
                          <a:solidFill>
                            <a:srgbClr val="38BDF8"/>
                          </a:solidFill>
                          <a:effectLst/>
                        </a:rPr>
                        <a:t>1 TN</a:t>
                      </a:r>
                    </a:p>
                  </a:txBody>
                  <a:tcPr anchor="ctr">
                    <a:lnL>
                      <a:noFill/>
                    </a:lnL>
                    <a:lnR>
                      <a:noFill/>
                    </a:lnR>
                    <a:lnT>
                      <a:noFill/>
                    </a:lnT>
                    <a:lnB w="7620" cap="flat" cmpd="sng" algn="ctr">
                      <a:solidFill>
                        <a:srgbClr val="334155"/>
                      </a:solidFill>
                      <a:prstDash val="solid"/>
                      <a:round/>
                      <a:headEnd type="none" w="med" len="med"/>
                      <a:tailEnd type="none" w="med" len="med"/>
                    </a:lnB>
                    <a:solidFill>
                      <a:srgbClr val="0F172A"/>
                    </a:solidFill>
                  </a:tcPr>
                </a:tc>
                <a:tc>
                  <a:txBody>
                    <a:bodyPr/>
                    <a:lstStyle/>
                    <a:p>
                      <a:pPr>
                        <a:buNone/>
                      </a:pPr>
                      <a:r>
                        <a:rPr lang="en-US">
                          <a:solidFill>
                            <a:srgbClr val="F97316"/>
                          </a:solidFill>
                          <a:effectLst/>
                        </a:rPr>
                        <a:t>4 FP</a:t>
                      </a:r>
                    </a:p>
                  </a:txBody>
                  <a:tcPr anchor="ctr">
                    <a:lnL>
                      <a:noFill/>
                    </a:lnL>
                    <a:lnR>
                      <a:noFill/>
                    </a:lnR>
                    <a:lnT>
                      <a:noFill/>
                    </a:lnT>
                    <a:lnB w="7620"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4002922881"/>
                  </a:ext>
                </a:extLst>
              </a:tr>
              <a:tr h="0">
                <a:tc>
                  <a:txBody>
                    <a:bodyPr/>
                    <a:lstStyle/>
                    <a:p>
                      <a:pPr>
                        <a:buNone/>
                      </a:pPr>
                      <a:r>
                        <a:rPr lang="en-US" b="1" dirty="0">
                          <a:solidFill>
                            <a:schemeClr val="bg2"/>
                          </a:solidFill>
                          <a:effectLst/>
                        </a:rPr>
                        <a:t>Ruptured</a:t>
                      </a:r>
                      <a:endParaRPr lang="en-US" dirty="0">
                        <a:solidFill>
                          <a:schemeClr val="bg2"/>
                        </a:solidFill>
                        <a:effectLst/>
                      </a:endParaRPr>
                    </a:p>
                  </a:txBody>
                  <a:tcPr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solidFill>
                      <a:srgbClr val="0F172A"/>
                    </a:solidFill>
                  </a:tcPr>
                </a:tc>
                <a:tc>
                  <a:txBody>
                    <a:bodyPr/>
                    <a:lstStyle/>
                    <a:p>
                      <a:pPr>
                        <a:buNone/>
                      </a:pPr>
                      <a:r>
                        <a:rPr lang="en-US">
                          <a:solidFill>
                            <a:srgbClr val="EF4444"/>
                          </a:solidFill>
                          <a:effectLst/>
                        </a:rPr>
                        <a:t>4 FN</a:t>
                      </a:r>
                    </a:p>
                  </a:txBody>
                  <a:tcPr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solidFill>
                      <a:srgbClr val="0F172A"/>
                    </a:solidFill>
                  </a:tcPr>
                </a:tc>
                <a:tc>
                  <a:txBody>
                    <a:bodyPr/>
                    <a:lstStyle/>
                    <a:p>
                      <a:pPr>
                        <a:buNone/>
                      </a:pPr>
                      <a:r>
                        <a:rPr lang="en-US" b="1" dirty="0">
                          <a:solidFill>
                            <a:srgbClr val="38BDF8"/>
                          </a:solidFill>
                          <a:effectLst/>
                        </a:rPr>
                        <a:t>12 TP</a:t>
                      </a:r>
                    </a:p>
                  </a:txBody>
                  <a:tcPr anchor="ctr">
                    <a:lnL>
                      <a:noFill/>
                    </a:lnL>
                    <a:lnR>
                      <a:noFill/>
                    </a:lnR>
                    <a:lnT w="7620" cap="flat" cmpd="sng" algn="ctr">
                      <a:solidFill>
                        <a:srgbClr val="334155"/>
                      </a:solidFill>
                      <a:prstDash val="solid"/>
                      <a:round/>
                      <a:headEnd type="none" w="med" len="med"/>
                      <a:tailEnd type="none" w="med" len="med"/>
                    </a:lnT>
                    <a:lnB w="7620"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77466499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7563" y="1057562"/>
            <a:ext cx="51435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7564" y="1065164"/>
            <a:ext cx="51434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575942" y="2691064"/>
            <a:ext cx="1876484"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727288"/>
            <a:ext cx="2925267" cy="3134219"/>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7570" y="1049957"/>
            <a:ext cx="5143502"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350041" y="440141"/>
            <a:ext cx="2401025" cy="2540623"/>
          </a:xfrm>
          <a:prstGeom prst="rect">
            <a:avLst/>
          </a:prstGeom>
        </p:spPr>
        <p:txBody>
          <a:bodyPr vert="horz" lIns="91440" tIns="45720" rIns="91440" bIns="45720" rtlCol="0" anchor="b">
            <a:normAutofit/>
          </a:bodyPr>
          <a:lstStyle/>
          <a:p>
            <a:pPr marL="0" indent="0" algn="r">
              <a:lnSpc>
                <a:spcPct val="90000"/>
              </a:lnSpc>
              <a:spcBef>
                <a:spcPct val="0"/>
              </a:spcBef>
              <a:spcAft>
                <a:spcPts val="600"/>
              </a:spcAft>
            </a:pPr>
            <a:r>
              <a:rPr lang="en-US" sz="3000" b="1" kern="1200" dirty="0">
                <a:solidFill>
                  <a:srgbClr val="FFFFFF"/>
                </a:solidFill>
                <a:latin typeface="+mj-lt"/>
                <a:ea typeface="+mj-ea"/>
                <a:cs typeface="+mj-cs"/>
              </a:rPr>
              <a:t>Key Takeaways</a:t>
            </a:r>
            <a:endParaRPr lang="en-US" sz="3000" kern="1200" dirty="0">
              <a:solidFill>
                <a:srgbClr val="FFFFFF"/>
              </a:solidFill>
              <a:latin typeface="+mj-lt"/>
              <a:ea typeface="+mj-ea"/>
              <a:cs typeface="+mj-cs"/>
            </a:endParaRPr>
          </a:p>
        </p:txBody>
      </p:sp>
      <p:sp>
        <p:nvSpPr>
          <p:cNvPr id="3" name="Text 1"/>
          <p:cNvSpPr/>
          <p:nvPr/>
        </p:nvSpPr>
        <p:spPr>
          <a:xfrm>
            <a:off x="3607694" y="487110"/>
            <a:ext cx="4916510" cy="4159535"/>
          </a:xfrm>
          <a:prstGeom prst="rect">
            <a:avLst/>
          </a:prstGeom>
        </p:spPr>
        <p:txBody>
          <a:bodyPr vert="horz" lIns="91440" tIns="45720" rIns="91440" bIns="45720" rtlCol="0" anchor="ctr">
            <a:normAutofit/>
          </a:bodyPr>
          <a:lstStyle/>
          <a:p>
            <a:pPr marL="342900" indent="-228600">
              <a:lnSpc>
                <a:spcPct val="90000"/>
              </a:lnSpc>
              <a:spcAft>
                <a:spcPts val="600"/>
              </a:spcAft>
              <a:buSzPct val="100000"/>
              <a:buFont typeface="Arial" panose="020B0604020202020204" pitchFamily="34" charset="0"/>
              <a:buChar char="•"/>
            </a:pPr>
            <a:r>
              <a:rPr lang="en-US" sz="1500" b="1"/>
              <a:t>Data Engineering:</a:t>
            </a:r>
            <a:r>
              <a:rPr lang="en-US" sz="1500"/>
              <a:t> Resolved 12 ID mismatches; increased dataset to 104 complete samples</a:t>
            </a:r>
          </a:p>
          <a:p>
            <a:pPr marL="342900" indent="-228600">
              <a:lnSpc>
                <a:spcPct val="90000"/>
              </a:lnSpc>
              <a:spcAft>
                <a:spcPts val="600"/>
              </a:spcAft>
              <a:buSzPct val="100000"/>
              <a:buFont typeface="Arial" panose="020B0604020202020204" pitchFamily="34" charset="0"/>
              <a:buChar char="•"/>
            </a:pPr>
            <a:r>
              <a:rPr lang="en-US" sz="1500" b="1"/>
              <a:t>Feature Curation:</a:t>
            </a:r>
            <a:r>
              <a:rPr lang="en-US" sz="1500"/>
              <a:t> Selected 7 multi-modal features with statistical significance</a:t>
            </a:r>
          </a:p>
          <a:p>
            <a:pPr marL="342900" indent="-228600">
              <a:lnSpc>
                <a:spcPct val="90000"/>
              </a:lnSpc>
              <a:spcAft>
                <a:spcPts val="600"/>
              </a:spcAft>
              <a:buSzPct val="100000"/>
              <a:buFont typeface="Arial" panose="020B0604020202020204" pitchFamily="34" charset="0"/>
              <a:buChar char="•"/>
            </a:pPr>
            <a:r>
              <a:rPr lang="en-US" sz="1500" b="1"/>
              <a:t>Model Performance:</a:t>
            </a:r>
            <a:r>
              <a:rPr lang="en-US" sz="1500"/>
              <a:t> 75% recall and precision on imbalanced holdout set</a:t>
            </a:r>
          </a:p>
          <a:p>
            <a:pPr marL="342900" indent="-228600">
              <a:lnSpc>
                <a:spcPct val="90000"/>
              </a:lnSpc>
              <a:spcAft>
                <a:spcPts val="600"/>
              </a:spcAft>
              <a:buSzPct val="100000"/>
              <a:buFont typeface="Arial" panose="020B0604020202020204" pitchFamily="34" charset="0"/>
              <a:buChar char="•"/>
            </a:pPr>
            <a:r>
              <a:rPr lang="en-US" sz="1500" b="1"/>
              <a:t>Clinical Translation:</a:t>
            </a:r>
            <a:r>
              <a:rPr lang="en-US" sz="1500"/>
              <a:t> Prioritized sensitivity to prevent missed ruptures (patient safety first)</a:t>
            </a:r>
          </a:p>
          <a:p>
            <a:pPr marL="342900" indent="-228600">
              <a:lnSpc>
                <a:spcPct val="90000"/>
              </a:lnSpc>
              <a:spcAft>
                <a:spcPts val="600"/>
              </a:spcAft>
              <a:buSzPct val="100000"/>
              <a:buFont typeface="Arial" panose="020B0604020202020204" pitchFamily="34" charset="0"/>
              <a:buChar char="•"/>
            </a:pPr>
            <a:r>
              <a:rPr lang="en-US" sz="1500" b="1"/>
              <a:t>Reproducibility:</a:t>
            </a:r>
            <a:r>
              <a:rPr lang="en-US" sz="1500"/>
              <a:t> Stratified validation and clear audit trail for clinical deployment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0"/>
            <a:ext cx="9144000" cy="5143499"/>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41640" y="-1290"/>
            <a:ext cx="8812530" cy="5130513"/>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4540" y="-968"/>
            <a:ext cx="2706134" cy="5144147"/>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4544796" y="584453"/>
            <a:ext cx="3725650"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0"/>
          <p:cNvSpPr/>
          <p:nvPr/>
        </p:nvSpPr>
        <p:spPr>
          <a:xfrm>
            <a:off x="1040148" y="614238"/>
            <a:ext cx="5779752" cy="567258"/>
          </a:xfrm>
          <a:prstGeom prst="rect">
            <a:avLst/>
          </a:prstGeom>
        </p:spPr>
        <p:txBody>
          <a:bodyPr vert="horz" lIns="91440" tIns="45720" rIns="91440" bIns="45720" rtlCol="0" anchor="b">
            <a:normAutofit lnSpcReduction="10000"/>
          </a:bodyPr>
          <a:lstStyle/>
          <a:p>
            <a:pPr marL="0" indent="0" algn="r">
              <a:lnSpc>
                <a:spcPct val="90000"/>
              </a:lnSpc>
              <a:spcBef>
                <a:spcPct val="0"/>
              </a:spcBef>
              <a:spcAft>
                <a:spcPts val="600"/>
              </a:spcAft>
            </a:pPr>
            <a:r>
              <a:rPr lang="en-US" sz="3600" b="1" kern="1200" dirty="0">
                <a:solidFill>
                  <a:srgbClr val="FFFFFF"/>
                </a:solidFill>
                <a:latin typeface="+mj-lt"/>
                <a:ea typeface="+mj-ea"/>
                <a:cs typeface="+mj-cs"/>
              </a:rPr>
              <a:t>Conclusion &amp; Future Directions</a:t>
            </a:r>
            <a:endParaRPr lang="en-US" sz="3600" kern="1200" dirty="0">
              <a:solidFill>
                <a:srgbClr val="FFFFFF"/>
              </a:solidFill>
              <a:latin typeface="+mj-lt"/>
              <a:ea typeface="+mj-ea"/>
              <a:cs typeface="+mj-cs"/>
            </a:endParaRPr>
          </a:p>
        </p:txBody>
      </p:sp>
      <p:sp>
        <p:nvSpPr>
          <p:cNvPr id="21" name="Rectangle 20">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735" y="3360028"/>
            <a:ext cx="9134528" cy="178347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1"/>
          <p:cNvSpPr/>
          <p:nvPr/>
        </p:nvSpPr>
        <p:spPr>
          <a:xfrm>
            <a:off x="341639" y="2901718"/>
            <a:ext cx="7738229" cy="213360"/>
          </a:xfrm>
          <a:prstGeom prst="rect">
            <a:avLst/>
          </a:prstGeom>
        </p:spPr>
        <p:txBody>
          <a:bodyPr vert="horz" lIns="91440" tIns="45720" rIns="91440" bIns="45720" rtlCol="0">
            <a:noAutofit/>
          </a:bodyPr>
          <a:lstStyle/>
          <a:p>
            <a:pPr>
              <a:lnSpc>
                <a:spcPct val="90000"/>
              </a:lnSpc>
              <a:spcBef>
                <a:spcPts val="1000"/>
              </a:spcBef>
            </a:pPr>
            <a:r>
              <a:rPr lang="en-US" sz="1600" b="1" kern="1200" dirty="0">
                <a:solidFill>
                  <a:schemeClr val="accent6">
                    <a:lumMod val="20000"/>
                    <a:lumOff val="80000"/>
                  </a:schemeClr>
                </a:solidFill>
                <a:latin typeface="+mn-lt"/>
                <a:ea typeface="+mn-ea"/>
                <a:cs typeface="+mn-cs"/>
              </a:rPr>
              <a:t>Achievement:</a:t>
            </a:r>
            <a:r>
              <a:rPr lang="en-US" sz="1600" kern="1200" dirty="0">
                <a:solidFill>
                  <a:schemeClr val="accent6">
                    <a:lumMod val="20000"/>
                    <a:lumOff val="80000"/>
                  </a:schemeClr>
                </a:solidFill>
                <a:latin typeface="+mn-lt"/>
                <a:ea typeface="+mn-ea"/>
                <a:cs typeface="+mn-cs"/>
              </a:rPr>
              <a:t> High-quality, clinically interpretable ML pipeline for aneurysm rupture prediction</a:t>
            </a:r>
          </a:p>
        </p:txBody>
      </p:sp>
      <p:sp>
        <p:nvSpPr>
          <p:cNvPr id="23" name="Rectangle 22">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225314" y="1224495"/>
            <a:ext cx="5143179" cy="2694194"/>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2"/>
          <p:cNvSpPr/>
          <p:nvPr/>
        </p:nvSpPr>
        <p:spPr>
          <a:xfrm>
            <a:off x="451104" y="1685530"/>
            <a:ext cx="8083296" cy="213360"/>
          </a:xfrm>
          <a:prstGeom prst="rect">
            <a:avLst/>
          </a:prstGeom>
          <a:noFill/>
          <a:ln/>
        </p:spPr>
        <p:txBody>
          <a:bodyPr wrap="square" lIns="0" tIns="0" rIns="0" bIns="0" rtlCol="0" anchor="t"/>
          <a:lstStyle/>
          <a:p>
            <a:pPr marL="0" indent="0">
              <a:lnSpc>
                <a:spcPts val="2240"/>
              </a:lnSpc>
              <a:spcAft>
                <a:spcPts val="600"/>
              </a:spcAft>
              <a:buNone/>
            </a:pPr>
            <a:r>
              <a:rPr lang="en-US" sz="1400" b="1" dirty="0">
                <a:solidFill>
                  <a:schemeClr val="accent6">
                    <a:lumMod val="20000"/>
                    <a:lumOff val="80000"/>
                  </a:schemeClr>
                </a:solidFill>
                <a:latin typeface="Arial" pitchFamily="34" charset="0"/>
                <a:ea typeface="Arial" pitchFamily="34" charset="-122"/>
                <a:cs typeface="Arial" pitchFamily="34" charset="-120"/>
              </a:rPr>
              <a:t>Impact:</a:t>
            </a:r>
            <a:r>
              <a:rPr lang="en-US" sz="1400" dirty="0">
                <a:solidFill>
                  <a:schemeClr val="accent6">
                    <a:lumMod val="20000"/>
                    <a:lumOff val="80000"/>
                  </a:schemeClr>
                </a:solidFill>
                <a:latin typeface="Arial" pitchFamily="34" charset="0"/>
                <a:ea typeface="Arial" pitchFamily="34" charset="-122"/>
                <a:cs typeface="Arial" pitchFamily="34" charset="-120"/>
              </a:rPr>
              <a:t> Potential to improve patient stratification and clinical decision-making</a:t>
            </a:r>
            <a:endParaRPr lang="en-US" sz="1400" dirty="0">
              <a:solidFill>
                <a:schemeClr val="accent6">
                  <a:lumMod val="20000"/>
                  <a:lumOff val="80000"/>
                </a:schemeClr>
              </a:solidFill>
            </a:endParaRPr>
          </a:p>
        </p:txBody>
      </p:sp>
      <p:sp>
        <p:nvSpPr>
          <p:cNvPr id="5" name="Text 3"/>
          <p:cNvSpPr/>
          <p:nvPr/>
        </p:nvSpPr>
        <p:spPr>
          <a:xfrm>
            <a:off x="451104" y="2357745"/>
            <a:ext cx="8083296" cy="213360"/>
          </a:xfrm>
          <a:prstGeom prst="rect">
            <a:avLst/>
          </a:prstGeom>
          <a:noFill/>
          <a:ln/>
        </p:spPr>
        <p:txBody>
          <a:bodyPr wrap="square" lIns="0" tIns="0" rIns="0" bIns="0" rtlCol="0" anchor="t"/>
          <a:lstStyle/>
          <a:p>
            <a:pPr marL="0" indent="0">
              <a:lnSpc>
                <a:spcPts val="2240"/>
              </a:lnSpc>
              <a:spcAft>
                <a:spcPts val="600"/>
              </a:spcAft>
              <a:buNone/>
            </a:pPr>
            <a:r>
              <a:rPr lang="en-US" sz="1400" b="1" dirty="0">
                <a:solidFill>
                  <a:schemeClr val="accent6">
                    <a:lumMod val="20000"/>
                    <a:lumOff val="80000"/>
                  </a:schemeClr>
                </a:solidFill>
                <a:latin typeface="Arial" pitchFamily="34" charset="0"/>
                <a:ea typeface="Arial" pitchFamily="34" charset="-122"/>
                <a:cs typeface="Arial" pitchFamily="34" charset="-120"/>
              </a:rPr>
              <a:t>Future:</a:t>
            </a:r>
            <a:r>
              <a:rPr lang="en-US" sz="1400" dirty="0">
                <a:solidFill>
                  <a:schemeClr val="accent6">
                    <a:lumMod val="20000"/>
                    <a:lumOff val="80000"/>
                  </a:schemeClr>
                </a:solidFill>
                <a:latin typeface="Arial" pitchFamily="34" charset="0"/>
                <a:ea typeface="Arial" pitchFamily="34" charset="-122"/>
                <a:cs typeface="Arial" pitchFamily="34" charset="-120"/>
              </a:rPr>
              <a:t> Larger datasets, external validation, prospective clinical trials</a:t>
            </a:r>
            <a:endParaRPr lang="en-US" sz="1400" dirty="0">
              <a:solidFill>
                <a:schemeClr val="accent6">
                  <a:lumMod val="20000"/>
                  <a:lumOff val="80000"/>
                </a:schemeClr>
              </a:solidFill>
            </a:endParaRPr>
          </a:p>
        </p:txBody>
      </p:sp>
      <p:sp>
        <p:nvSpPr>
          <p:cNvPr id="6" name="Text 4"/>
          <p:cNvSpPr/>
          <p:nvPr/>
        </p:nvSpPr>
        <p:spPr>
          <a:xfrm>
            <a:off x="609600" y="2346964"/>
            <a:ext cx="8083296" cy="213360"/>
          </a:xfrm>
          <a:prstGeom prst="rect">
            <a:avLst/>
          </a:prstGeom>
          <a:noFill/>
          <a:ln/>
        </p:spPr>
        <p:txBody>
          <a:bodyPr wrap="square" lIns="0" tIns="0" rIns="0" bIns="0" rtlCol="0" anchor="t"/>
          <a:lstStyle/>
          <a:p>
            <a:pPr marL="0" indent="0">
              <a:lnSpc>
                <a:spcPts val="2240"/>
              </a:lnSpc>
              <a:spcAft>
                <a:spcPts val="600"/>
              </a:spcAft>
              <a:buNone/>
            </a:pPr>
            <a:r>
              <a:rPr lang="en-US" sz="1200" dirty="0">
                <a:solidFill>
                  <a:srgbClr val="94A3B8"/>
                </a:solidFill>
                <a:latin typeface="Arial" pitchFamily="34" charset="0"/>
                <a:ea typeface="Arial" pitchFamily="34" charset="-122"/>
                <a:cs typeface="Arial" pitchFamily="34" charset="-120"/>
              </a:rPr>
              <a: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891DFD-CC30-92C5-6B9E-D4D4E9DF6178}"/>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DEF3C90-8F9E-9769-EDDB-23B87438A1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54034A8-6973-4144-12BE-FEC4FC14E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0"/>
            <a:ext cx="9144000" cy="5143499"/>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9B4A0D5-79AB-F33C-145A-9CB2514F9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41640" y="-1290"/>
            <a:ext cx="8812530" cy="5130513"/>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A13E83C-CCD0-EFEF-DA89-960EB8463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4540" y="-968"/>
            <a:ext cx="2706134" cy="5144147"/>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2FE0B8D-FB82-F0B2-AE06-46EECB7D5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4544796" y="584453"/>
            <a:ext cx="3725650"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D1356F95-D03C-CB7B-3A77-A7CC3A349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735" y="3360028"/>
            <a:ext cx="9134528" cy="178347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B5B1308-FC04-18FA-0E69-8FE0F1F7A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225314" y="1224495"/>
            <a:ext cx="5143179" cy="2694194"/>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4">
            <a:extLst>
              <a:ext uri="{FF2B5EF4-FFF2-40B4-BE49-F238E27FC236}">
                <a16:creationId xmlns:a16="http://schemas.microsoft.com/office/drawing/2014/main" id="{044BEB9A-9FD0-1643-54AB-A710491D9CD8}"/>
              </a:ext>
            </a:extLst>
          </p:cNvPr>
          <p:cNvSpPr/>
          <p:nvPr/>
        </p:nvSpPr>
        <p:spPr>
          <a:xfrm>
            <a:off x="609600" y="2346964"/>
            <a:ext cx="8083296" cy="213360"/>
          </a:xfrm>
          <a:prstGeom prst="rect">
            <a:avLst/>
          </a:prstGeom>
          <a:noFill/>
          <a:ln/>
        </p:spPr>
        <p:txBody>
          <a:bodyPr wrap="square" lIns="0" tIns="0" rIns="0" bIns="0" rtlCol="0" anchor="t"/>
          <a:lstStyle/>
          <a:p>
            <a:pPr marL="0" indent="0">
              <a:lnSpc>
                <a:spcPts val="2240"/>
              </a:lnSpc>
              <a:spcAft>
                <a:spcPts val="600"/>
              </a:spcAft>
              <a:buNone/>
            </a:pPr>
            <a:r>
              <a:rPr lang="en-US" sz="1200" dirty="0">
                <a:solidFill>
                  <a:srgbClr val="94A3B8"/>
                </a:solidFill>
                <a:latin typeface="Arial" pitchFamily="34" charset="0"/>
                <a:ea typeface="Arial" pitchFamily="34" charset="-122"/>
                <a:cs typeface="Arial" pitchFamily="34" charset="-120"/>
              </a:rPr>
              <a:t>.</a:t>
            </a:r>
            <a:endParaRPr lang="en-US" sz="1200" dirty="0"/>
          </a:p>
        </p:txBody>
      </p:sp>
      <p:sp>
        <p:nvSpPr>
          <p:cNvPr id="7" name="Text 0">
            <a:extLst>
              <a:ext uri="{FF2B5EF4-FFF2-40B4-BE49-F238E27FC236}">
                <a16:creationId xmlns:a16="http://schemas.microsoft.com/office/drawing/2014/main" id="{A48726F8-B099-A039-540E-42F49BE8DAE6}"/>
              </a:ext>
            </a:extLst>
          </p:cNvPr>
          <p:cNvSpPr/>
          <p:nvPr/>
        </p:nvSpPr>
        <p:spPr>
          <a:xfrm>
            <a:off x="437522" y="602039"/>
            <a:ext cx="5779752" cy="567258"/>
          </a:xfrm>
          <a:prstGeom prst="rect">
            <a:avLst/>
          </a:prstGeom>
        </p:spPr>
        <p:txBody>
          <a:bodyPr vert="horz" lIns="91440" tIns="45720" rIns="91440" bIns="45720" rtlCol="0" anchor="b">
            <a:normAutofit lnSpcReduction="10000"/>
          </a:bodyPr>
          <a:lstStyle/>
          <a:p>
            <a:pPr marL="0" indent="0">
              <a:lnSpc>
                <a:spcPct val="90000"/>
              </a:lnSpc>
              <a:spcBef>
                <a:spcPct val="0"/>
              </a:spcBef>
              <a:spcAft>
                <a:spcPts val="600"/>
              </a:spcAft>
            </a:pPr>
            <a:r>
              <a:rPr lang="en-US" sz="3600" b="1" dirty="0">
                <a:solidFill>
                  <a:srgbClr val="FFFFFF"/>
                </a:solidFill>
                <a:latin typeface="+mj-lt"/>
                <a:ea typeface="+mj-ea"/>
                <a:cs typeface="+mj-cs"/>
              </a:rPr>
              <a:t>References</a:t>
            </a:r>
            <a:endParaRPr lang="en-US" sz="3600" kern="1200" dirty="0">
              <a:solidFill>
                <a:srgbClr val="FFFFFF"/>
              </a:solidFill>
              <a:latin typeface="+mj-lt"/>
              <a:ea typeface="+mj-ea"/>
              <a:cs typeface="+mj-cs"/>
            </a:endParaRPr>
          </a:p>
        </p:txBody>
      </p:sp>
      <p:sp>
        <p:nvSpPr>
          <p:cNvPr id="8" name="Text 2">
            <a:extLst>
              <a:ext uri="{FF2B5EF4-FFF2-40B4-BE49-F238E27FC236}">
                <a16:creationId xmlns:a16="http://schemas.microsoft.com/office/drawing/2014/main" id="{38B8BDD5-5FB7-D9B9-FA88-A5E4736F6722}"/>
              </a:ext>
            </a:extLst>
          </p:cNvPr>
          <p:cNvSpPr/>
          <p:nvPr/>
        </p:nvSpPr>
        <p:spPr>
          <a:xfrm>
            <a:off x="451104" y="1685530"/>
            <a:ext cx="8083296" cy="213360"/>
          </a:xfrm>
          <a:prstGeom prst="rect">
            <a:avLst/>
          </a:prstGeom>
          <a:noFill/>
          <a:ln/>
        </p:spPr>
        <p:txBody>
          <a:bodyPr wrap="square" lIns="0" tIns="0" rIns="0" bIns="0" rtlCol="0" anchor="t"/>
          <a:lstStyle/>
          <a:p>
            <a:pPr>
              <a:lnSpc>
                <a:spcPts val="2240"/>
              </a:lnSpc>
              <a:spcAft>
                <a:spcPts val="600"/>
              </a:spcAft>
            </a:pPr>
            <a:r>
              <a:rPr lang="en-US" sz="1400" b="1" dirty="0">
                <a:solidFill>
                  <a:schemeClr val="accent6">
                    <a:lumMod val="20000"/>
                    <a:lumOff val="80000"/>
                  </a:schemeClr>
                </a:solidFill>
                <a:latin typeface="Arial" pitchFamily="34" charset="0"/>
                <a:ea typeface="Arial" pitchFamily="34" charset="-122"/>
                <a:cs typeface="Arial" pitchFamily="34" charset="-120"/>
              </a:rPr>
              <a:t>Tommaso Di Noto, Guillaume Marie, Sebastien </a:t>
            </a:r>
            <a:r>
              <a:rPr lang="en-US" sz="1400" b="1" dirty="0" err="1">
                <a:solidFill>
                  <a:schemeClr val="accent6">
                    <a:lumMod val="20000"/>
                    <a:lumOff val="80000"/>
                  </a:schemeClr>
                </a:solidFill>
                <a:latin typeface="Arial" pitchFamily="34" charset="0"/>
                <a:ea typeface="Arial" pitchFamily="34" charset="-122"/>
                <a:cs typeface="Arial" pitchFamily="34" charset="-120"/>
              </a:rPr>
              <a:t>Tourbier</a:t>
            </a:r>
            <a:r>
              <a:rPr lang="en-US" sz="1400" b="1" dirty="0">
                <a:solidFill>
                  <a:schemeClr val="accent6">
                    <a:lumMod val="20000"/>
                    <a:lumOff val="80000"/>
                  </a:schemeClr>
                </a:solidFill>
                <a:latin typeface="Arial" pitchFamily="34" charset="0"/>
                <a:ea typeface="Arial" pitchFamily="34" charset="-122"/>
                <a:cs typeface="Arial" pitchFamily="34" charset="-120"/>
              </a:rPr>
              <a:t>, Yasser Alemán-Gómez, Oscar Esteban, Guillaume Saliou, Meritxell Bach Cuadra, Patric Hagmann, and Jonas </a:t>
            </a:r>
            <a:r>
              <a:rPr lang="en-US" sz="1400" b="1" dirty="0" err="1">
                <a:solidFill>
                  <a:schemeClr val="accent6">
                    <a:lumMod val="20000"/>
                    <a:lumOff val="80000"/>
                  </a:schemeClr>
                </a:solidFill>
                <a:latin typeface="Arial" pitchFamily="34" charset="0"/>
                <a:ea typeface="Arial" pitchFamily="34" charset="-122"/>
                <a:cs typeface="Arial" pitchFamily="34" charset="-120"/>
              </a:rPr>
              <a:t>Richiardi</a:t>
            </a:r>
            <a:r>
              <a:rPr lang="en-US" sz="1400" b="1" dirty="0">
                <a:solidFill>
                  <a:schemeClr val="accent6">
                    <a:lumMod val="20000"/>
                    <a:lumOff val="80000"/>
                  </a:schemeClr>
                </a:solidFill>
                <a:latin typeface="Arial" pitchFamily="34" charset="0"/>
                <a:ea typeface="Arial" pitchFamily="34" charset="-122"/>
                <a:cs typeface="Arial" pitchFamily="34" charset="-120"/>
              </a:rPr>
              <a:t> (2022). </a:t>
            </a:r>
            <a:r>
              <a:rPr lang="en-US" sz="1400" b="1" dirty="0" err="1">
                <a:solidFill>
                  <a:schemeClr val="accent6">
                    <a:lumMod val="20000"/>
                    <a:lumOff val="80000"/>
                  </a:schemeClr>
                </a:solidFill>
                <a:latin typeface="Arial" pitchFamily="34" charset="0"/>
                <a:ea typeface="Arial" pitchFamily="34" charset="-122"/>
                <a:cs typeface="Arial" pitchFamily="34" charset="-120"/>
              </a:rPr>
              <a:t>Lausanne_TOF-MRA_Aneurysm_Cohort</a:t>
            </a:r>
            <a:r>
              <a:rPr lang="en-US" sz="1400" b="1" dirty="0">
                <a:solidFill>
                  <a:schemeClr val="accent6">
                    <a:lumMod val="20000"/>
                    <a:lumOff val="80000"/>
                  </a:schemeClr>
                </a:solidFill>
                <a:latin typeface="Arial" pitchFamily="34" charset="0"/>
                <a:ea typeface="Arial" pitchFamily="34" charset="-122"/>
                <a:cs typeface="Arial" pitchFamily="34" charset="-120"/>
              </a:rPr>
              <a:t>. </a:t>
            </a:r>
            <a:r>
              <a:rPr lang="en-US" sz="1400" b="1" dirty="0" err="1">
                <a:solidFill>
                  <a:schemeClr val="accent6">
                    <a:lumMod val="20000"/>
                    <a:lumOff val="80000"/>
                  </a:schemeClr>
                </a:solidFill>
                <a:latin typeface="Arial" pitchFamily="34" charset="0"/>
                <a:ea typeface="Arial" pitchFamily="34" charset="-122"/>
                <a:cs typeface="Arial" pitchFamily="34" charset="-120"/>
              </a:rPr>
              <a:t>OpenNeuro</a:t>
            </a:r>
            <a:r>
              <a:rPr lang="en-US" sz="1400" b="1" dirty="0">
                <a:solidFill>
                  <a:schemeClr val="accent6">
                    <a:lumMod val="20000"/>
                    <a:lumOff val="80000"/>
                  </a:schemeClr>
                </a:solidFill>
                <a:latin typeface="Arial" pitchFamily="34" charset="0"/>
                <a:ea typeface="Arial" pitchFamily="34" charset="-122"/>
                <a:cs typeface="Arial" pitchFamily="34" charset="-120"/>
              </a:rPr>
              <a:t>. [Dataset] </a:t>
            </a:r>
            <a:r>
              <a:rPr lang="en-US" sz="1400" b="1" dirty="0" err="1">
                <a:solidFill>
                  <a:schemeClr val="accent6">
                    <a:lumMod val="20000"/>
                    <a:lumOff val="80000"/>
                  </a:schemeClr>
                </a:solidFill>
                <a:latin typeface="Arial" pitchFamily="34" charset="0"/>
                <a:ea typeface="Arial" pitchFamily="34" charset="-122"/>
                <a:cs typeface="Arial" pitchFamily="34" charset="-120"/>
              </a:rPr>
              <a:t>doi</a:t>
            </a:r>
            <a:r>
              <a:rPr lang="en-US" sz="1400" b="1" dirty="0">
                <a:solidFill>
                  <a:schemeClr val="accent6">
                    <a:lumMod val="20000"/>
                    <a:lumOff val="80000"/>
                  </a:schemeClr>
                </a:solidFill>
                <a:latin typeface="Arial" pitchFamily="34" charset="0"/>
                <a:ea typeface="Arial" pitchFamily="34" charset="-122"/>
                <a:cs typeface="Arial" pitchFamily="34" charset="-120"/>
              </a:rPr>
              <a:t>: doi:10.18112/openneuro.ds003949.v1.0.1</a:t>
            </a:r>
            <a:endParaRPr lang="en-US" sz="1400" dirty="0">
              <a:solidFill>
                <a:schemeClr val="accent6">
                  <a:lumMod val="20000"/>
                  <a:lumOff val="80000"/>
                </a:schemeClr>
              </a:solidFill>
            </a:endParaRPr>
          </a:p>
        </p:txBody>
      </p:sp>
      <p:sp>
        <p:nvSpPr>
          <p:cNvPr id="9" name="Text 3">
            <a:extLst>
              <a:ext uri="{FF2B5EF4-FFF2-40B4-BE49-F238E27FC236}">
                <a16:creationId xmlns:a16="http://schemas.microsoft.com/office/drawing/2014/main" id="{E3D5000F-24BE-2855-54B8-2F74D4A511AE}"/>
              </a:ext>
            </a:extLst>
          </p:cNvPr>
          <p:cNvSpPr/>
          <p:nvPr/>
        </p:nvSpPr>
        <p:spPr>
          <a:xfrm>
            <a:off x="451104" y="2357745"/>
            <a:ext cx="8083296" cy="213360"/>
          </a:xfrm>
          <a:prstGeom prst="rect">
            <a:avLst/>
          </a:prstGeom>
          <a:noFill/>
          <a:ln/>
        </p:spPr>
        <p:txBody>
          <a:bodyPr wrap="square" lIns="0" tIns="0" rIns="0" bIns="0" rtlCol="0" anchor="t"/>
          <a:lstStyle/>
          <a:p>
            <a:pPr marL="0" indent="0">
              <a:lnSpc>
                <a:spcPts val="2240"/>
              </a:lnSpc>
              <a:spcAft>
                <a:spcPts val="600"/>
              </a:spcAft>
              <a:buNone/>
            </a:pPr>
            <a:endParaRPr lang="en-US" sz="1400" dirty="0">
              <a:solidFill>
                <a:schemeClr val="accent6">
                  <a:lumMod val="20000"/>
                  <a:lumOff val="80000"/>
                </a:schemeClr>
              </a:solidFill>
            </a:endParaRPr>
          </a:p>
        </p:txBody>
      </p:sp>
    </p:spTree>
    <p:extLst>
      <p:ext uri="{BB962C8B-B14F-4D97-AF65-F5344CB8AC3E}">
        <p14:creationId xmlns:p14="http://schemas.microsoft.com/office/powerpoint/2010/main" val="3064866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17019"/>
            <a:ext cx="9143998" cy="3280596"/>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31539" y="-2948881"/>
            <a:ext cx="3280918"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102522" y="-2777901"/>
            <a:ext cx="3280596"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17017"/>
            <a:ext cx="6406863" cy="3280594"/>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774039"/>
            <a:ext cx="3742610" cy="3329347"/>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 0"/>
          <p:cNvSpPr/>
          <p:nvPr/>
        </p:nvSpPr>
        <p:spPr>
          <a:xfrm>
            <a:off x="986118" y="551329"/>
            <a:ext cx="7540322" cy="2196353"/>
          </a:xfrm>
          <a:prstGeom prst="rect">
            <a:avLst/>
          </a:prstGeom>
        </p:spPr>
        <p:txBody>
          <a:bodyPr vert="horz" lIns="91440" tIns="45720" rIns="91440" bIns="45720" rtlCol="0" anchor="b">
            <a:normAutofit/>
          </a:bodyPr>
          <a:lstStyle/>
          <a:p>
            <a:pPr marL="0" indent="0">
              <a:lnSpc>
                <a:spcPct val="90000"/>
              </a:lnSpc>
              <a:spcBef>
                <a:spcPct val="0"/>
              </a:spcBef>
              <a:spcAft>
                <a:spcPts val="600"/>
              </a:spcAft>
            </a:pPr>
            <a:r>
              <a:rPr lang="en-US" sz="3600" b="1" kern="1200" dirty="0">
                <a:solidFill>
                  <a:srgbClr val="FFFFFF"/>
                </a:solidFill>
                <a:latin typeface="+mj-lt"/>
                <a:ea typeface="+mj-ea"/>
                <a:cs typeface="+mj-cs"/>
              </a:rPr>
              <a:t>                      Thank You!</a:t>
            </a:r>
            <a:endParaRPr lang="en-US" sz="3600" kern="1200" dirty="0">
              <a:solidFill>
                <a:srgbClr val="FFFFFF"/>
              </a:solidFill>
              <a:latin typeface="+mj-lt"/>
              <a:ea typeface="+mj-ea"/>
              <a:cs typeface="+mj-cs"/>
            </a:endParaRPr>
          </a:p>
        </p:txBody>
      </p:sp>
      <p:sp>
        <p:nvSpPr>
          <p:cNvPr id="3" name="Text 1"/>
          <p:cNvSpPr/>
          <p:nvPr/>
        </p:nvSpPr>
        <p:spPr>
          <a:xfrm>
            <a:off x="1013011" y="3653118"/>
            <a:ext cx="7504463" cy="1093693"/>
          </a:xfrm>
          <a:prstGeom prst="rect">
            <a:avLst/>
          </a:prstGeom>
        </p:spPr>
        <p:txBody>
          <a:bodyPr vert="horz" lIns="91440" tIns="45720" rIns="91440" bIns="45720" rtlCol="0" anchor="ctr">
            <a:normAutofit/>
          </a:bodyPr>
          <a:lstStyle/>
          <a:p>
            <a:pPr>
              <a:lnSpc>
                <a:spcPct val="90000"/>
              </a:lnSpc>
              <a:spcBef>
                <a:spcPts val="1000"/>
              </a:spcBef>
            </a:pPr>
            <a:r>
              <a:rPr lang="en-US" sz="2400" kern="1200">
                <a:solidFill>
                  <a:schemeClr val="tx1"/>
                </a:solidFill>
                <a:latin typeface="+mn-lt"/>
                <a:ea typeface="+mn-ea"/>
                <a:cs typeface="+mn-cs"/>
              </a:rPr>
              <a:t>Questions &amp; Discussion</a:t>
            </a:r>
          </a:p>
        </p:txBody>
      </p:sp>
      <p:sp>
        <p:nvSpPr>
          <p:cNvPr id="4" name="Text 2"/>
          <p:cNvSpPr/>
          <p:nvPr/>
        </p:nvSpPr>
        <p:spPr>
          <a:xfrm>
            <a:off x="3324044" y="3196147"/>
            <a:ext cx="2566228" cy="186690"/>
          </a:xfrm>
          <a:prstGeom prst="rect">
            <a:avLst/>
          </a:prstGeom>
          <a:noFill/>
          <a:ln/>
        </p:spPr>
        <p:txBody>
          <a:bodyPr wrap="square" lIns="0" tIns="0" rIns="0" bIns="0" rtlCol="0" anchor="t"/>
          <a:lstStyle/>
          <a:p>
            <a:pPr marL="0" indent="0" algn="ctr">
              <a:lnSpc>
                <a:spcPts val="1960"/>
              </a:lnSpc>
              <a:buNone/>
            </a:pP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377</TotalTime>
  <Words>3128</Words>
  <Application>Microsoft Office PowerPoint</Application>
  <PresentationFormat>On-screen Show (16:9)</PresentationFormat>
  <Paragraphs>186</Paragraphs>
  <Slides>18</Slides>
  <Notes>18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Perplexity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Sai Kiran Bolem</cp:lastModifiedBy>
  <cp:revision>15</cp:revision>
  <dcterms:created xsi:type="dcterms:W3CDTF">2025-11-23T01:15:36Z</dcterms:created>
  <dcterms:modified xsi:type="dcterms:W3CDTF">2025-12-02T22:29:26Z</dcterms:modified>
</cp:coreProperties>
</file>